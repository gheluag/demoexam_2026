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2" r:id="rId3"/>
    <p:sldId id="383" r:id="rId4"/>
    <p:sldId id="384" r:id="rId5"/>
    <p:sldId id="385" r:id="rId6"/>
    <p:sldId id="291" r:id="rId7"/>
    <p:sldId id="333" r:id="rId8"/>
    <p:sldId id="334" r:id="rId9"/>
    <p:sldId id="292" r:id="rId10"/>
    <p:sldId id="336" r:id="rId11"/>
    <p:sldId id="386" r:id="rId12"/>
    <p:sldId id="335" r:id="rId13"/>
    <p:sldId id="338" r:id="rId14"/>
    <p:sldId id="337" r:id="rId15"/>
    <p:sldId id="339" r:id="rId16"/>
    <p:sldId id="340" r:id="rId17"/>
    <p:sldId id="341" r:id="rId18"/>
    <p:sldId id="342" r:id="rId19"/>
    <p:sldId id="343" r:id="rId20"/>
    <p:sldId id="348" r:id="rId21"/>
    <p:sldId id="387" r:id="rId22"/>
    <p:sldId id="344" r:id="rId23"/>
    <p:sldId id="345" r:id="rId24"/>
    <p:sldId id="346" r:id="rId25"/>
    <p:sldId id="347" r:id="rId26"/>
    <p:sldId id="349" r:id="rId27"/>
    <p:sldId id="350" r:id="rId28"/>
    <p:sldId id="351" r:id="rId29"/>
    <p:sldId id="352" r:id="rId30"/>
    <p:sldId id="353" r:id="rId31"/>
    <p:sldId id="354" r:id="rId32"/>
    <p:sldId id="388" r:id="rId33"/>
    <p:sldId id="389" r:id="rId34"/>
    <p:sldId id="390" r:id="rId35"/>
    <p:sldId id="391" r:id="rId36"/>
    <p:sldId id="355" r:id="rId37"/>
    <p:sldId id="356" r:id="rId38"/>
    <p:sldId id="357" r:id="rId39"/>
    <p:sldId id="358" r:id="rId40"/>
    <p:sldId id="362" r:id="rId41"/>
    <p:sldId id="361" r:id="rId42"/>
    <p:sldId id="365" r:id="rId43"/>
    <p:sldId id="359" r:id="rId44"/>
    <p:sldId id="363" r:id="rId45"/>
    <p:sldId id="360" r:id="rId46"/>
    <p:sldId id="364" r:id="rId47"/>
    <p:sldId id="392" r:id="rId48"/>
    <p:sldId id="366" r:id="rId49"/>
    <p:sldId id="367" r:id="rId50"/>
    <p:sldId id="368" r:id="rId51"/>
    <p:sldId id="369" r:id="rId52"/>
    <p:sldId id="370" r:id="rId53"/>
    <p:sldId id="371" r:id="rId54"/>
    <p:sldId id="372" r:id="rId55"/>
    <p:sldId id="373" r:id="rId56"/>
    <p:sldId id="381" r:id="rId57"/>
    <p:sldId id="374" r:id="rId58"/>
    <p:sldId id="375" r:id="rId59"/>
    <p:sldId id="376" r:id="rId60"/>
    <p:sldId id="377" r:id="rId61"/>
    <p:sldId id="378" r:id="rId62"/>
    <p:sldId id="379" r:id="rId63"/>
    <p:sldId id="380" r:id="rId64"/>
    <p:sldId id="393" r:id="rId65"/>
    <p:sldId id="394" r:id="rId66"/>
    <p:sldId id="395" r:id="rId67"/>
    <p:sldId id="396" r:id="rId6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989" y="-53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3B6D4-8099-4756-8908-5625003757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0E2CC7-777D-448D-B56E-B8CD1C186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BF387E-AB7B-4B4B-897D-81514C7B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23.02.2026</a:t>
            </a:fld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0FBE17-044B-4AF6-A289-0A782F3B7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0144957-439D-47CC-A8ED-6A2C122E5876}"/>
              </a:ext>
            </a:extLst>
          </p:cNvPr>
          <p:cNvSpPr/>
          <p:nvPr userDrawn="1"/>
        </p:nvSpPr>
        <p:spPr>
          <a:xfrm>
            <a:off x="4854698" y="634674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presentation-creation.ru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59A56F-C8EE-4028-B120-76C4E70D0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presentation-creation.ru</a:t>
            </a:r>
            <a:endParaRPr lang="ru-RU" dirty="0"/>
          </a:p>
        </p:txBody>
      </p:sp>
      <p:sp>
        <p:nvSpPr>
          <p:cNvPr id="15" name="Google Shape;21;p3">
            <a:extLst>
              <a:ext uri="{FF2B5EF4-FFF2-40B4-BE49-F238E27FC236}">
                <a16:creationId xmlns:a16="http://schemas.microsoft.com/office/drawing/2014/main" id="{F25BF6C3-6CEF-4217-9A35-451DBD2B05EA}"/>
              </a:ext>
            </a:extLst>
          </p:cNvPr>
          <p:cNvSpPr/>
          <p:nvPr userDrawn="1"/>
        </p:nvSpPr>
        <p:spPr>
          <a:xfrm rot="767936" flipH="1">
            <a:off x="7311027" y="5562092"/>
            <a:ext cx="5658256" cy="3086393"/>
          </a:xfrm>
          <a:custGeom>
            <a:avLst/>
            <a:gdLst>
              <a:gd name="connsiteX0" fmla="*/ 54690 w 86090"/>
              <a:gd name="connsiteY0" fmla="*/ 116 h 53568"/>
              <a:gd name="connsiteX1" fmla="*/ 43799 w 86090"/>
              <a:gd name="connsiteY1" fmla="*/ 3420 h 53568"/>
              <a:gd name="connsiteX2" fmla="*/ 23867 w 86090"/>
              <a:gd name="connsiteY2" fmla="*/ 26384 h 53568"/>
              <a:gd name="connsiteX3" fmla="*/ 15443 w 86090"/>
              <a:gd name="connsiteY3" fmla="*/ 30570 h 53568"/>
              <a:gd name="connsiteX4" fmla="*/ 14517 w 86090"/>
              <a:gd name="connsiteY4" fmla="*/ 30535 h 53568"/>
              <a:gd name="connsiteX5" fmla="*/ 11428 w 86090"/>
              <a:gd name="connsiteY5" fmla="*/ 30418 h 53568"/>
              <a:gd name="connsiteX6" fmla="*/ 39 w 86090"/>
              <a:gd name="connsiteY6" fmla="*/ 34114 h 53568"/>
              <a:gd name="connsiteX7" fmla="*/ 10831 w 86090"/>
              <a:gd name="connsiteY7" fmla="*/ 46041 h 53568"/>
              <a:gd name="connsiteX8" fmla="*/ 30398 w 86090"/>
              <a:gd name="connsiteY8" fmla="*/ 53568 h 53568"/>
              <a:gd name="connsiteX9" fmla="*/ 34419 w 86090"/>
              <a:gd name="connsiteY9" fmla="*/ 52929 h 53568"/>
              <a:gd name="connsiteX10" fmla="*/ 85987 w 86090"/>
              <a:gd name="connsiteY10" fmla="*/ 38125 h 53568"/>
              <a:gd name="connsiteX11" fmla="*/ 75901 w 86090"/>
              <a:gd name="connsiteY11" fmla="*/ 10688 h 53568"/>
              <a:gd name="connsiteX12" fmla="*/ 54690 w 86090"/>
              <a:gd name="connsiteY12" fmla="*/ 116 h 53568"/>
              <a:gd name="connsiteX0" fmla="*/ 54690 w 86090"/>
              <a:gd name="connsiteY0" fmla="*/ 0 h 53452"/>
              <a:gd name="connsiteX1" fmla="*/ 44407 w 86090"/>
              <a:gd name="connsiteY1" fmla="*/ 18431 h 53452"/>
              <a:gd name="connsiteX2" fmla="*/ 23867 w 86090"/>
              <a:gd name="connsiteY2" fmla="*/ 26268 h 53452"/>
              <a:gd name="connsiteX3" fmla="*/ 15443 w 86090"/>
              <a:gd name="connsiteY3" fmla="*/ 30454 h 53452"/>
              <a:gd name="connsiteX4" fmla="*/ 14517 w 86090"/>
              <a:gd name="connsiteY4" fmla="*/ 30419 h 53452"/>
              <a:gd name="connsiteX5" fmla="*/ 11428 w 86090"/>
              <a:gd name="connsiteY5" fmla="*/ 30302 h 53452"/>
              <a:gd name="connsiteX6" fmla="*/ 39 w 86090"/>
              <a:gd name="connsiteY6" fmla="*/ 33998 h 53452"/>
              <a:gd name="connsiteX7" fmla="*/ 10831 w 86090"/>
              <a:gd name="connsiteY7" fmla="*/ 45925 h 53452"/>
              <a:gd name="connsiteX8" fmla="*/ 30398 w 86090"/>
              <a:gd name="connsiteY8" fmla="*/ 53452 h 53452"/>
              <a:gd name="connsiteX9" fmla="*/ 34419 w 86090"/>
              <a:gd name="connsiteY9" fmla="*/ 52813 h 53452"/>
              <a:gd name="connsiteX10" fmla="*/ 85987 w 86090"/>
              <a:gd name="connsiteY10" fmla="*/ 38009 h 53452"/>
              <a:gd name="connsiteX11" fmla="*/ 75901 w 86090"/>
              <a:gd name="connsiteY11" fmla="*/ 10572 h 53452"/>
              <a:gd name="connsiteX12" fmla="*/ 54690 w 86090"/>
              <a:gd name="connsiteY12" fmla="*/ 0 h 53452"/>
              <a:gd name="connsiteX0" fmla="*/ 61755 w 86139"/>
              <a:gd name="connsiteY0" fmla="*/ 135 h 46986"/>
              <a:gd name="connsiteX1" fmla="*/ 44407 w 86139"/>
              <a:gd name="connsiteY1" fmla="*/ 11965 h 46986"/>
              <a:gd name="connsiteX2" fmla="*/ 23867 w 86139"/>
              <a:gd name="connsiteY2" fmla="*/ 19802 h 46986"/>
              <a:gd name="connsiteX3" fmla="*/ 15443 w 86139"/>
              <a:gd name="connsiteY3" fmla="*/ 23988 h 46986"/>
              <a:gd name="connsiteX4" fmla="*/ 14517 w 86139"/>
              <a:gd name="connsiteY4" fmla="*/ 23953 h 46986"/>
              <a:gd name="connsiteX5" fmla="*/ 11428 w 86139"/>
              <a:gd name="connsiteY5" fmla="*/ 23836 h 46986"/>
              <a:gd name="connsiteX6" fmla="*/ 39 w 86139"/>
              <a:gd name="connsiteY6" fmla="*/ 27532 h 46986"/>
              <a:gd name="connsiteX7" fmla="*/ 10831 w 86139"/>
              <a:gd name="connsiteY7" fmla="*/ 39459 h 46986"/>
              <a:gd name="connsiteX8" fmla="*/ 30398 w 86139"/>
              <a:gd name="connsiteY8" fmla="*/ 46986 h 46986"/>
              <a:gd name="connsiteX9" fmla="*/ 34419 w 86139"/>
              <a:gd name="connsiteY9" fmla="*/ 46347 h 46986"/>
              <a:gd name="connsiteX10" fmla="*/ 85987 w 86139"/>
              <a:gd name="connsiteY10" fmla="*/ 31543 h 46986"/>
              <a:gd name="connsiteX11" fmla="*/ 75901 w 86139"/>
              <a:gd name="connsiteY11" fmla="*/ 4106 h 46986"/>
              <a:gd name="connsiteX12" fmla="*/ 61755 w 86139"/>
              <a:gd name="connsiteY12" fmla="*/ 135 h 46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6139" h="46986" extrusionOk="0">
                <a:moveTo>
                  <a:pt x="61755" y="135"/>
                </a:moveTo>
                <a:cubicBezTo>
                  <a:pt x="58273" y="135"/>
                  <a:pt x="50722" y="8687"/>
                  <a:pt x="44407" y="11965"/>
                </a:cubicBezTo>
                <a:cubicBezTo>
                  <a:pt x="38092" y="15243"/>
                  <a:pt x="28694" y="17798"/>
                  <a:pt x="23867" y="19802"/>
                </a:cubicBezTo>
                <a:cubicBezTo>
                  <a:pt x="19040" y="21806"/>
                  <a:pt x="17001" y="23296"/>
                  <a:pt x="15443" y="23988"/>
                </a:cubicBezTo>
                <a:cubicBezTo>
                  <a:pt x="13885" y="24680"/>
                  <a:pt x="14837" y="23976"/>
                  <a:pt x="14517" y="23953"/>
                </a:cubicBezTo>
                <a:cubicBezTo>
                  <a:pt x="13445" y="23874"/>
                  <a:pt x="12413" y="23836"/>
                  <a:pt x="11428" y="23836"/>
                </a:cubicBezTo>
                <a:cubicBezTo>
                  <a:pt x="4945" y="23836"/>
                  <a:pt x="511" y="25459"/>
                  <a:pt x="39" y="27532"/>
                </a:cubicBezTo>
                <a:cubicBezTo>
                  <a:pt x="-501" y="29917"/>
                  <a:pt x="4649" y="36749"/>
                  <a:pt x="10831" y="39459"/>
                </a:cubicBezTo>
                <a:cubicBezTo>
                  <a:pt x="16017" y="41735"/>
                  <a:pt x="23339" y="46986"/>
                  <a:pt x="30398" y="46986"/>
                </a:cubicBezTo>
                <a:cubicBezTo>
                  <a:pt x="31754" y="46986"/>
                  <a:pt x="33100" y="46792"/>
                  <a:pt x="34419" y="46347"/>
                </a:cubicBezTo>
                <a:cubicBezTo>
                  <a:pt x="42608" y="43581"/>
                  <a:pt x="84686" y="49600"/>
                  <a:pt x="85987" y="31543"/>
                </a:cubicBezTo>
                <a:cubicBezTo>
                  <a:pt x="87289" y="13486"/>
                  <a:pt x="79940" y="9341"/>
                  <a:pt x="75901" y="4106"/>
                </a:cubicBezTo>
                <a:cubicBezTo>
                  <a:pt x="71862" y="-1129"/>
                  <a:pt x="73558" y="135"/>
                  <a:pt x="61755" y="135"/>
                </a:cubicBezTo>
                <a:close/>
              </a:path>
            </a:pathLst>
          </a:custGeom>
          <a:solidFill>
            <a:schemeClr val="dk2">
              <a:alpha val="128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2;p3">
            <a:extLst>
              <a:ext uri="{FF2B5EF4-FFF2-40B4-BE49-F238E27FC236}">
                <a16:creationId xmlns:a16="http://schemas.microsoft.com/office/drawing/2014/main" id="{D7C44C21-AA69-4906-8446-8466CB266AF9}"/>
              </a:ext>
            </a:extLst>
          </p:cNvPr>
          <p:cNvSpPr/>
          <p:nvPr userDrawn="1"/>
        </p:nvSpPr>
        <p:spPr>
          <a:xfrm rot="10516523" flipH="1">
            <a:off x="6957725" y="5059957"/>
            <a:ext cx="6478482" cy="3219134"/>
          </a:xfrm>
          <a:custGeom>
            <a:avLst/>
            <a:gdLst>
              <a:gd name="connsiteX0" fmla="*/ 73424 w 73424"/>
              <a:gd name="connsiteY0" fmla="*/ 0 h 31457"/>
              <a:gd name="connsiteX1" fmla="*/ 60785 w 73424"/>
              <a:gd name="connsiteY1" fmla="*/ 24597 h 31457"/>
              <a:gd name="connsiteX2" fmla="*/ 24778 w 73424"/>
              <a:gd name="connsiteY2" fmla="*/ 25788 h 31457"/>
              <a:gd name="connsiteX3" fmla="*/ 0 w 73424"/>
              <a:gd name="connsiteY3" fmla="*/ 18035 h 31457"/>
              <a:gd name="connsiteX0" fmla="*/ 73424 w 73424"/>
              <a:gd name="connsiteY0" fmla="*/ 0 h 31457"/>
              <a:gd name="connsiteX1" fmla="*/ 58067 w 73424"/>
              <a:gd name="connsiteY1" fmla="*/ 19389 h 31457"/>
              <a:gd name="connsiteX2" fmla="*/ 24778 w 73424"/>
              <a:gd name="connsiteY2" fmla="*/ 25788 h 31457"/>
              <a:gd name="connsiteX3" fmla="*/ 0 w 73424"/>
              <a:gd name="connsiteY3" fmla="*/ 18035 h 31457"/>
              <a:gd name="connsiteX0" fmla="*/ 73424 w 73424"/>
              <a:gd name="connsiteY0" fmla="*/ 0 h 29376"/>
              <a:gd name="connsiteX1" fmla="*/ 58067 w 73424"/>
              <a:gd name="connsiteY1" fmla="*/ 19389 h 29376"/>
              <a:gd name="connsiteX2" fmla="*/ 24778 w 73424"/>
              <a:gd name="connsiteY2" fmla="*/ 25788 h 29376"/>
              <a:gd name="connsiteX3" fmla="*/ 16974 w 73424"/>
              <a:gd name="connsiteY3" fmla="*/ 29025 h 29376"/>
              <a:gd name="connsiteX4" fmla="*/ 0 w 73424"/>
              <a:gd name="connsiteY4" fmla="*/ 18035 h 29376"/>
              <a:gd name="connsiteX0" fmla="*/ 67041 w 67041"/>
              <a:gd name="connsiteY0" fmla="*/ 0 h 29376"/>
              <a:gd name="connsiteX1" fmla="*/ 51684 w 67041"/>
              <a:gd name="connsiteY1" fmla="*/ 19389 h 29376"/>
              <a:gd name="connsiteX2" fmla="*/ 18395 w 67041"/>
              <a:gd name="connsiteY2" fmla="*/ 25788 h 29376"/>
              <a:gd name="connsiteX3" fmla="*/ 10591 w 67041"/>
              <a:gd name="connsiteY3" fmla="*/ 29025 h 29376"/>
              <a:gd name="connsiteX4" fmla="*/ 0 w 67041"/>
              <a:gd name="connsiteY4" fmla="*/ 10502 h 29376"/>
              <a:gd name="connsiteX0" fmla="*/ 67041 w 67041"/>
              <a:gd name="connsiteY0" fmla="*/ 0 h 27223"/>
              <a:gd name="connsiteX1" fmla="*/ 51684 w 67041"/>
              <a:gd name="connsiteY1" fmla="*/ 19389 h 27223"/>
              <a:gd name="connsiteX2" fmla="*/ 18395 w 67041"/>
              <a:gd name="connsiteY2" fmla="*/ 25788 h 27223"/>
              <a:gd name="connsiteX3" fmla="*/ 10214 w 67041"/>
              <a:gd name="connsiteY3" fmla="*/ 26197 h 27223"/>
              <a:gd name="connsiteX4" fmla="*/ 0 w 67041"/>
              <a:gd name="connsiteY4" fmla="*/ 10502 h 27223"/>
              <a:gd name="connsiteX0" fmla="*/ 67041 w 67041"/>
              <a:gd name="connsiteY0" fmla="*/ 0 h 28127"/>
              <a:gd name="connsiteX1" fmla="*/ 51684 w 67041"/>
              <a:gd name="connsiteY1" fmla="*/ 19389 h 28127"/>
              <a:gd name="connsiteX2" fmla="*/ 20086 w 67041"/>
              <a:gd name="connsiteY2" fmla="*/ 27221 h 28127"/>
              <a:gd name="connsiteX3" fmla="*/ 10214 w 67041"/>
              <a:gd name="connsiteY3" fmla="*/ 26197 h 28127"/>
              <a:gd name="connsiteX4" fmla="*/ 0 w 67041"/>
              <a:gd name="connsiteY4" fmla="*/ 10502 h 28127"/>
              <a:gd name="connsiteX0" fmla="*/ 67041 w 67041"/>
              <a:gd name="connsiteY0" fmla="*/ 0 h 27915"/>
              <a:gd name="connsiteX1" fmla="*/ 51684 w 67041"/>
              <a:gd name="connsiteY1" fmla="*/ 19389 h 27915"/>
              <a:gd name="connsiteX2" fmla="*/ 20086 w 67041"/>
              <a:gd name="connsiteY2" fmla="*/ 27221 h 27915"/>
              <a:gd name="connsiteX3" fmla="*/ 10984 w 67041"/>
              <a:gd name="connsiteY3" fmla="*/ 25133 h 27915"/>
              <a:gd name="connsiteX4" fmla="*/ 0 w 67041"/>
              <a:gd name="connsiteY4" fmla="*/ 10502 h 27915"/>
              <a:gd name="connsiteX0" fmla="*/ 67041 w 67041"/>
              <a:gd name="connsiteY0" fmla="*/ 0 h 27915"/>
              <a:gd name="connsiteX1" fmla="*/ 43220 w 67041"/>
              <a:gd name="connsiteY1" fmla="*/ 6935 h 27915"/>
              <a:gd name="connsiteX2" fmla="*/ 20086 w 67041"/>
              <a:gd name="connsiteY2" fmla="*/ 27221 h 27915"/>
              <a:gd name="connsiteX3" fmla="*/ 10984 w 67041"/>
              <a:gd name="connsiteY3" fmla="*/ 25133 h 27915"/>
              <a:gd name="connsiteX4" fmla="*/ 0 w 67041"/>
              <a:gd name="connsiteY4" fmla="*/ 10502 h 27915"/>
              <a:gd name="connsiteX0" fmla="*/ 60570 w 60570"/>
              <a:gd name="connsiteY0" fmla="*/ 0 h 30097"/>
              <a:gd name="connsiteX1" fmla="*/ 43220 w 60570"/>
              <a:gd name="connsiteY1" fmla="*/ 9117 h 30097"/>
              <a:gd name="connsiteX2" fmla="*/ 20086 w 60570"/>
              <a:gd name="connsiteY2" fmla="*/ 29403 h 30097"/>
              <a:gd name="connsiteX3" fmla="*/ 10984 w 60570"/>
              <a:gd name="connsiteY3" fmla="*/ 27315 h 30097"/>
              <a:gd name="connsiteX4" fmla="*/ 0 w 60570"/>
              <a:gd name="connsiteY4" fmla="*/ 12684 h 30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570" h="30097" fill="none" extrusionOk="0">
                <a:moveTo>
                  <a:pt x="60570" y="0"/>
                </a:moveTo>
                <a:cubicBezTo>
                  <a:pt x="60570" y="0"/>
                  <a:pt x="49967" y="4217"/>
                  <a:pt x="43220" y="9117"/>
                </a:cubicBezTo>
                <a:cubicBezTo>
                  <a:pt x="36473" y="14017"/>
                  <a:pt x="27832" y="27413"/>
                  <a:pt x="20086" y="29403"/>
                </a:cubicBezTo>
                <a:cubicBezTo>
                  <a:pt x="12340" y="31393"/>
                  <a:pt x="15114" y="28607"/>
                  <a:pt x="10984" y="27315"/>
                </a:cubicBezTo>
                <a:cubicBezTo>
                  <a:pt x="6854" y="26023"/>
                  <a:pt x="1931" y="14899"/>
                  <a:pt x="0" y="12684"/>
                </a:cubicBezTo>
              </a:path>
            </a:pathLst>
          </a:custGeom>
          <a:noFill/>
          <a:ln w="28575" cap="flat" cmpd="sng">
            <a:solidFill>
              <a:schemeClr val="accent3"/>
            </a:solidFill>
            <a:prstDash val="solid"/>
            <a:miter lim="3253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7" name="Google Shape;23;p3">
            <a:extLst>
              <a:ext uri="{FF2B5EF4-FFF2-40B4-BE49-F238E27FC236}">
                <a16:creationId xmlns:a16="http://schemas.microsoft.com/office/drawing/2014/main" id="{A62885B8-6DEC-4FA2-B9DD-29F52230D613}"/>
              </a:ext>
            </a:extLst>
          </p:cNvPr>
          <p:cNvSpPr/>
          <p:nvPr userDrawn="1"/>
        </p:nvSpPr>
        <p:spPr>
          <a:xfrm rot="5636608" flipH="1">
            <a:off x="-2453358" y="-39767"/>
            <a:ext cx="5051971" cy="3279932"/>
          </a:xfrm>
          <a:custGeom>
            <a:avLst/>
            <a:gdLst>
              <a:gd name="connsiteX0" fmla="*/ 55307 w 86160"/>
              <a:gd name="connsiteY0" fmla="*/ 1231 h 51819"/>
              <a:gd name="connsiteX1" fmla="*/ 43799 w 86160"/>
              <a:gd name="connsiteY1" fmla="*/ 1671 h 51819"/>
              <a:gd name="connsiteX2" fmla="*/ 23250 w 86160"/>
              <a:gd name="connsiteY2" fmla="*/ 22116 h 51819"/>
              <a:gd name="connsiteX3" fmla="*/ 15443 w 86160"/>
              <a:gd name="connsiteY3" fmla="*/ 28821 h 51819"/>
              <a:gd name="connsiteX4" fmla="*/ 14517 w 86160"/>
              <a:gd name="connsiteY4" fmla="*/ 28786 h 51819"/>
              <a:gd name="connsiteX5" fmla="*/ 11428 w 86160"/>
              <a:gd name="connsiteY5" fmla="*/ 28669 h 51819"/>
              <a:gd name="connsiteX6" fmla="*/ 39 w 86160"/>
              <a:gd name="connsiteY6" fmla="*/ 32365 h 51819"/>
              <a:gd name="connsiteX7" fmla="*/ 10831 w 86160"/>
              <a:gd name="connsiteY7" fmla="*/ 44292 h 51819"/>
              <a:gd name="connsiteX8" fmla="*/ 30398 w 86160"/>
              <a:gd name="connsiteY8" fmla="*/ 51819 h 51819"/>
              <a:gd name="connsiteX9" fmla="*/ 34419 w 86160"/>
              <a:gd name="connsiteY9" fmla="*/ 51180 h 51819"/>
              <a:gd name="connsiteX10" fmla="*/ 85987 w 86160"/>
              <a:gd name="connsiteY10" fmla="*/ 36376 h 51819"/>
              <a:gd name="connsiteX11" fmla="*/ 75901 w 86160"/>
              <a:gd name="connsiteY11" fmla="*/ 8939 h 51819"/>
              <a:gd name="connsiteX12" fmla="*/ 55307 w 86160"/>
              <a:gd name="connsiteY12" fmla="*/ 1231 h 51819"/>
              <a:gd name="connsiteX0" fmla="*/ 55307 w 86160"/>
              <a:gd name="connsiteY0" fmla="*/ 18 h 50606"/>
              <a:gd name="connsiteX1" fmla="*/ 46385 w 86160"/>
              <a:gd name="connsiteY1" fmla="*/ 3060 h 50606"/>
              <a:gd name="connsiteX2" fmla="*/ 23250 w 86160"/>
              <a:gd name="connsiteY2" fmla="*/ 20903 h 50606"/>
              <a:gd name="connsiteX3" fmla="*/ 15443 w 86160"/>
              <a:gd name="connsiteY3" fmla="*/ 27608 h 50606"/>
              <a:gd name="connsiteX4" fmla="*/ 14517 w 86160"/>
              <a:gd name="connsiteY4" fmla="*/ 27573 h 50606"/>
              <a:gd name="connsiteX5" fmla="*/ 11428 w 86160"/>
              <a:gd name="connsiteY5" fmla="*/ 27456 h 50606"/>
              <a:gd name="connsiteX6" fmla="*/ 39 w 86160"/>
              <a:gd name="connsiteY6" fmla="*/ 31152 h 50606"/>
              <a:gd name="connsiteX7" fmla="*/ 10831 w 86160"/>
              <a:gd name="connsiteY7" fmla="*/ 43079 h 50606"/>
              <a:gd name="connsiteX8" fmla="*/ 30398 w 86160"/>
              <a:gd name="connsiteY8" fmla="*/ 50606 h 50606"/>
              <a:gd name="connsiteX9" fmla="*/ 34419 w 86160"/>
              <a:gd name="connsiteY9" fmla="*/ 49967 h 50606"/>
              <a:gd name="connsiteX10" fmla="*/ 85987 w 86160"/>
              <a:gd name="connsiteY10" fmla="*/ 35163 h 50606"/>
              <a:gd name="connsiteX11" fmla="*/ 75901 w 86160"/>
              <a:gd name="connsiteY11" fmla="*/ 7726 h 50606"/>
              <a:gd name="connsiteX12" fmla="*/ 55307 w 86160"/>
              <a:gd name="connsiteY12" fmla="*/ 18 h 50606"/>
              <a:gd name="connsiteX0" fmla="*/ 55307 w 79837"/>
              <a:gd name="connsiteY0" fmla="*/ 18 h 52262"/>
              <a:gd name="connsiteX1" fmla="*/ 46385 w 79837"/>
              <a:gd name="connsiteY1" fmla="*/ 3060 h 52262"/>
              <a:gd name="connsiteX2" fmla="*/ 23250 w 79837"/>
              <a:gd name="connsiteY2" fmla="*/ 20903 h 52262"/>
              <a:gd name="connsiteX3" fmla="*/ 15443 w 79837"/>
              <a:gd name="connsiteY3" fmla="*/ 27608 h 52262"/>
              <a:gd name="connsiteX4" fmla="*/ 14517 w 79837"/>
              <a:gd name="connsiteY4" fmla="*/ 27573 h 52262"/>
              <a:gd name="connsiteX5" fmla="*/ 11428 w 79837"/>
              <a:gd name="connsiteY5" fmla="*/ 27456 h 52262"/>
              <a:gd name="connsiteX6" fmla="*/ 39 w 79837"/>
              <a:gd name="connsiteY6" fmla="*/ 31152 h 52262"/>
              <a:gd name="connsiteX7" fmla="*/ 10831 w 79837"/>
              <a:gd name="connsiteY7" fmla="*/ 43079 h 52262"/>
              <a:gd name="connsiteX8" fmla="*/ 30398 w 79837"/>
              <a:gd name="connsiteY8" fmla="*/ 50606 h 52262"/>
              <a:gd name="connsiteX9" fmla="*/ 34419 w 79837"/>
              <a:gd name="connsiteY9" fmla="*/ 49967 h 52262"/>
              <a:gd name="connsiteX10" fmla="*/ 79229 w 79837"/>
              <a:gd name="connsiteY10" fmla="*/ 22039 h 52262"/>
              <a:gd name="connsiteX11" fmla="*/ 75901 w 79837"/>
              <a:gd name="connsiteY11" fmla="*/ 7726 h 52262"/>
              <a:gd name="connsiteX12" fmla="*/ 55307 w 79837"/>
              <a:gd name="connsiteY12" fmla="*/ 18 h 52262"/>
              <a:gd name="connsiteX0" fmla="*/ 55302 w 79832"/>
              <a:gd name="connsiteY0" fmla="*/ 18 h 51830"/>
              <a:gd name="connsiteX1" fmla="*/ 46380 w 79832"/>
              <a:gd name="connsiteY1" fmla="*/ 3060 h 51830"/>
              <a:gd name="connsiteX2" fmla="*/ 23245 w 79832"/>
              <a:gd name="connsiteY2" fmla="*/ 20903 h 51830"/>
              <a:gd name="connsiteX3" fmla="*/ 15438 w 79832"/>
              <a:gd name="connsiteY3" fmla="*/ 27608 h 51830"/>
              <a:gd name="connsiteX4" fmla="*/ 14512 w 79832"/>
              <a:gd name="connsiteY4" fmla="*/ 27573 h 51830"/>
              <a:gd name="connsiteX5" fmla="*/ 11423 w 79832"/>
              <a:gd name="connsiteY5" fmla="*/ 27456 h 51830"/>
              <a:gd name="connsiteX6" fmla="*/ 34 w 79832"/>
              <a:gd name="connsiteY6" fmla="*/ 31152 h 51830"/>
              <a:gd name="connsiteX7" fmla="*/ 10826 w 79832"/>
              <a:gd name="connsiteY7" fmla="*/ 43079 h 51830"/>
              <a:gd name="connsiteX8" fmla="*/ 31694 w 79832"/>
              <a:gd name="connsiteY8" fmla="*/ 49313 h 51830"/>
              <a:gd name="connsiteX9" fmla="*/ 34414 w 79832"/>
              <a:gd name="connsiteY9" fmla="*/ 49967 h 51830"/>
              <a:gd name="connsiteX10" fmla="*/ 79224 w 79832"/>
              <a:gd name="connsiteY10" fmla="*/ 22039 h 51830"/>
              <a:gd name="connsiteX11" fmla="*/ 75896 w 79832"/>
              <a:gd name="connsiteY11" fmla="*/ 7726 h 51830"/>
              <a:gd name="connsiteX12" fmla="*/ 55302 w 79832"/>
              <a:gd name="connsiteY12" fmla="*/ 18 h 51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9832" h="51830" extrusionOk="0">
                <a:moveTo>
                  <a:pt x="55302" y="18"/>
                </a:moveTo>
                <a:cubicBezTo>
                  <a:pt x="51820" y="18"/>
                  <a:pt x="51723" y="-421"/>
                  <a:pt x="46380" y="3060"/>
                </a:cubicBezTo>
                <a:cubicBezTo>
                  <a:pt x="41037" y="6541"/>
                  <a:pt x="28402" y="16812"/>
                  <a:pt x="23245" y="20903"/>
                </a:cubicBezTo>
                <a:cubicBezTo>
                  <a:pt x="18088" y="24994"/>
                  <a:pt x="22692" y="27608"/>
                  <a:pt x="15438" y="27608"/>
                </a:cubicBezTo>
                <a:cubicBezTo>
                  <a:pt x="15141" y="27608"/>
                  <a:pt x="14832" y="27596"/>
                  <a:pt x="14512" y="27573"/>
                </a:cubicBezTo>
                <a:cubicBezTo>
                  <a:pt x="13440" y="27494"/>
                  <a:pt x="12408" y="27456"/>
                  <a:pt x="11423" y="27456"/>
                </a:cubicBezTo>
                <a:cubicBezTo>
                  <a:pt x="4940" y="27456"/>
                  <a:pt x="506" y="29079"/>
                  <a:pt x="34" y="31152"/>
                </a:cubicBezTo>
                <a:cubicBezTo>
                  <a:pt x="-506" y="33537"/>
                  <a:pt x="5549" y="40052"/>
                  <a:pt x="10826" y="43079"/>
                </a:cubicBezTo>
                <a:cubicBezTo>
                  <a:pt x="16103" y="46106"/>
                  <a:pt x="24635" y="49313"/>
                  <a:pt x="31694" y="49313"/>
                </a:cubicBezTo>
                <a:cubicBezTo>
                  <a:pt x="33050" y="49313"/>
                  <a:pt x="26492" y="54513"/>
                  <a:pt x="34414" y="49967"/>
                </a:cubicBezTo>
                <a:cubicBezTo>
                  <a:pt x="42336" y="45421"/>
                  <a:pt x="77923" y="40096"/>
                  <a:pt x="79224" y="22039"/>
                </a:cubicBezTo>
                <a:cubicBezTo>
                  <a:pt x="80526" y="3982"/>
                  <a:pt x="79883" y="11396"/>
                  <a:pt x="75896" y="7726"/>
                </a:cubicBezTo>
                <a:cubicBezTo>
                  <a:pt x="71909" y="4056"/>
                  <a:pt x="67105" y="18"/>
                  <a:pt x="55302" y="18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463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8;p3">
            <a:extLst>
              <a:ext uri="{FF2B5EF4-FFF2-40B4-BE49-F238E27FC236}">
                <a16:creationId xmlns:a16="http://schemas.microsoft.com/office/drawing/2014/main" id="{86999DB2-B561-462F-932D-00FD467CF02F}"/>
              </a:ext>
            </a:extLst>
          </p:cNvPr>
          <p:cNvSpPr/>
          <p:nvPr userDrawn="1"/>
        </p:nvSpPr>
        <p:spPr>
          <a:xfrm>
            <a:off x="3793203" y="-3317232"/>
            <a:ext cx="6498782" cy="4960063"/>
          </a:xfrm>
          <a:custGeom>
            <a:avLst/>
            <a:gdLst>
              <a:gd name="connsiteX0" fmla="*/ 23944 w 36088"/>
              <a:gd name="connsiteY0" fmla="*/ 0 h 29796"/>
              <a:gd name="connsiteX1" fmla="*/ 1490 w 36088"/>
              <a:gd name="connsiteY1" fmla="*/ 6817 h 29796"/>
              <a:gd name="connsiteX2" fmla="*/ 5114 w 36088"/>
              <a:gd name="connsiteY2" fmla="*/ 25300 h 29796"/>
              <a:gd name="connsiteX3" fmla="*/ 8553 w 36088"/>
              <a:gd name="connsiteY3" fmla="*/ 29631 h 29796"/>
              <a:gd name="connsiteX4" fmla="*/ 35590 w 36088"/>
              <a:gd name="connsiteY4" fmla="*/ 18845 h 29796"/>
              <a:gd name="connsiteX5" fmla="*/ 26005 w 36088"/>
              <a:gd name="connsiteY5" fmla="*/ 248 h 29796"/>
              <a:gd name="connsiteX6" fmla="*/ 23944 w 36088"/>
              <a:gd name="connsiteY6" fmla="*/ 0 h 29796"/>
              <a:gd name="connsiteX0" fmla="*/ 23543 w 35687"/>
              <a:gd name="connsiteY0" fmla="*/ 0 h 27237"/>
              <a:gd name="connsiteX1" fmla="*/ 1089 w 35687"/>
              <a:gd name="connsiteY1" fmla="*/ 6817 h 27237"/>
              <a:gd name="connsiteX2" fmla="*/ 4713 w 35687"/>
              <a:gd name="connsiteY2" fmla="*/ 25300 h 27237"/>
              <a:gd name="connsiteX3" fmla="*/ 15182 w 35687"/>
              <a:gd name="connsiteY3" fmla="*/ 25949 h 27237"/>
              <a:gd name="connsiteX4" fmla="*/ 35189 w 35687"/>
              <a:gd name="connsiteY4" fmla="*/ 18845 h 27237"/>
              <a:gd name="connsiteX5" fmla="*/ 25604 w 35687"/>
              <a:gd name="connsiteY5" fmla="*/ 248 h 27237"/>
              <a:gd name="connsiteX6" fmla="*/ 23543 w 35687"/>
              <a:gd name="connsiteY6" fmla="*/ 0 h 27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687" h="27237" extrusionOk="0">
                <a:moveTo>
                  <a:pt x="23543" y="0"/>
                </a:moveTo>
                <a:cubicBezTo>
                  <a:pt x="16287" y="0"/>
                  <a:pt x="4227" y="2600"/>
                  <a:pt x="1089" y="6817"/>
                </a:cubicBezTo>
                <a:cubicBezTo>
                  <a:pt x="-2049" y="11034"/>
                  <a:pt x="2364" y="22111"/>
                  <a:pt x="4713" y="25300"/>
                </a:cubicBezTo>
                <a:cubicBezTo>
                  <a:pt x="7062" y="28489"/>
                  <a:pt x="10103" y="27025"/>
                  <a:pt x="15182" y="25949"/>
                </a:cubicBezTo>
                <a:cubicBezTo>
                  <a:pt x="20261" y="24873"/>
                  <a:pt x="33306" y="21287"/>
                  <a:pt x="35189" y="18845"/>
                </a:cubicBezTo>
                <a:cubicBezTo>
                  <a:pt x="37479" y="15871"/>
                  <a:pt x="31460" y="1992"/>
                  <a:pt x="25604" y="248"/>
                </a:cubicBezTo>
                <a:cubicBezTo>
                  <a:pt x="25029" y="77"/>
                  <a:pt x="24332" y="0"/>
                  <a:pt x="23543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  <a:alpha val="25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915E017-FBEA-43E5-BEF2-B852B6A94906}"/>
              </a:ext>
            </a:extLst>
          </p:cNvPr>
          <p:cNvSpPr/>
          <p:nvPr userDrawn="1"/>
        </p:nvSpPr>
        <p:spPr>
          <a:xfrm rot="5400000">
            <a:off x="11135364" y="89019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</a:rPr>
              <a:t>presentation-creation.ru</a:t>
            </a:r>
          </a:p>
        </p:txBody>
      </p:sp>
    </p:spTree>
    <p:extLst>
      <p:ext uri="{BB962C8B-B14F-4D97-AF65-F5344CB8AC3E}">
        <p14:creationId xmlns:p14="http://schemas.microsoft.com/office/powerpoint/2010/main" val="390844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bg2">
                    <a:lumMod val="50000"/>
                  </a:schemeClr>
                </a:solidFill>
              </a:defRPr>
            </a:lvl2pPr>
            <a:lvl3pPr>
              <a:defRPr>
                <a:solidFill>
                  <a:schemeClr val="bg2">
                    <a:lumMod val="50000"/>
                  </a:schemeClr>
                </a:solidFill>
              </a:defRPr>
            </a:lvl3pPr>
            <a:lvl4pPr>
              <a:defRPr>
                <a:solidFill>
                  <a:schemeClr val="bg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2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Google Shape;20;p3">
            <a:extLst>
              <a:ext uri="{FF2B5EF4-FFF2-40B4-BE49-F238E27FC236}">
                <a16:creationId xmlns:a16="http://schemas.microsoft.com/office/drawing/2014/main" id="{42B27CB7-B8F6-4150-82B0-1DA60E4ED577}"/>
              </a:ext>
            </a:extLst>
          </p:cNvPr>
          <p:cNvSpPr/>
          <p:nvPr userDrawn="1"/>
        </p:nvSpPr>
        <p:spPr>
          <a:xfrm rot="-10285629">
            <a:off x="9404695" y="-1198950"/>
            <a:ext cx="8382351" cy="4853662"/>
          </a:xfrm>
          <a:custGeom>
            <a:avLst/>
            <a:gdLst>
              <a:gd name="connsiteX0" fmla="*/ 54690 w 86030"/>
              <a:gd name="connsiteY0" fmla="*/ 0 h 53452"/>
              <a:gd name="connsiteX1" fmla="*/ 43799 w 86030"/>
              <a:gd name="connsiteY1" fmla="*/ 3304 h 53452"/>
              <a:gd name="connsiteX2" fmla="*/ 23250 w 86030"/>
              <a:gd name="connsiteY2" fmla="*/ 23749 h 53452"/>
              <a:gd name="connsiteX3" fmla="*/ 15443 w 86030"/>
              <a:gd name="connsiteY3" fmla="*/ 30454 h 53452"/>
              <a:gd name="connsiteX4" fmla="*/ 14517 w 86030"/>
              <a:gd name="connsiteY4" fmla="*/ 30419 h 53452"/>
              <a:gd name="connsiteX5" fmla="*/ 11428 w 86030"/>
              <a:gd name="connsiteY5" fmla="*/ 30302 h 53452"/>
              <a:gd name="connsiteX6" fmla="*/ 39 w 86030"/>
              <a:gd name="connsiteY6" fmla="*/ 33998 h 53452"/>
              <a:gd name="connsiteX7" fmla="*/ 10831 w 86030"/>
              <a:gd name="connsiteY7" fmla="*/ 45925 h 53452"/>
              <a:gd name="connsiteX8" fmla="*/ 30398 w 86030"/>
              <a:gd name="connsiteY8" fmla="*/ 53452 h 53452"/>
              <a:gd name="connsiteX9" fmla="*/ 34419 w 86030"/>
              <a:gd name="connsiteY9" fmla="*/ 52813 h 53452"/>
              <a:gd name="connsiteX10" fmla="*/ 85987 w 86030"/>
              <a:gd name="connsiteY10" fmla="*/ 38009 h 53452"/>
              <a:gd name="connsiteX11" fmla="*/ 58717 w 86030"/>
              <a:gd name="connsiteY11" fmla="*/ 17877 h 53452"/>
              <a:gd name="connsiteX12" fmla="*/ 54690 w 86030"/>
              <a:gd name="connsiteY12" fmla="*/ 0 h 53452"/>
              <a:gd name="connsiteX0" fmla="*/ 31604 w 86049"/>
              <a:gd name="connsiteY0" fmla="*/ 13249 h 50221"/>
              <a:gd name="connsiteX1" fmla="*/ 43799 w 86049"/>
              <a:gd name="connsiteY1" fmla="*/ 73 h 50221"/>
              <a:gd name="connsiteX2" fmla="*/ 23250 w 86049"/>
              <a:gd name="connsiteY2" fmla="*/ 20518 h 50221"/>
              <a:gd name="connsiteX3" fmla="*/ 15443 w 86049"/>
              <a:gd name="connsiteY3" fmla="*/ 27223 h 50221"/>
              <a:gd name="connsiteX4" fmla="*/ 14517 w 86049"/>
              <a:gd name="connsiteY4" fmla="*/ 27188 h 50221"/>
              <a:gd name="connsiteX5" fmla="*/ 11428 w 86049"/>
              <a:gd name="connsiteY5" fmla="*/ 27071 h 50221"/>
              <a:gd name="connsiteX6" fmla="*/ 39 w 86049"/>
              <a:gd name="connsiteY6" fmla="*/ 30767 h 50221"/>
              <a:gd name="connsiteX7" fmla="*/ 10831 w 86049"/>
              <a:gd name="connsiteY7" fmla="*/ 42694 h 50221"/>
              <a:gd name="connsiteX8" fmla="*/ 30398 w 86049"/>
              <a:gd name="connsiteY8" fmla="*/ 50221 h 50221"/>
              <a:gd name="connsiteX9" fmla="*/ 34419 w 86049"/>
              <a:gd name="connsiteY9" fmla="*/ 49582 h 50221"/>
              <a:gd name="connsiteX10" fmla="*/ 85987 w 86049"/>
              <a:gd name="connsiteY10" fmla="*/ 34778 h 50221"/>
              <a:gd name="connsiteX11" fmla="*/ 58717 w 86049"/>
              <a:gd name="connsiteY11" fmla="*/ 14646 h 50221"/>
              <a:gd name="connsiteX12" fmla="*/ 31604 w 86049"/>
              <a:gd name="connsiteY12" fmla="*/ 13249 h 50221"/>
              <a:gd name="connsiteX0" fmla="*/ 31604 w 86049"/>
              <a:gd name="connsiteY0" fmla="*/ 663 h 37635"/>
              <a:gd name="connsiteX1" fmla="*/ 28313 w 86049"/>
              <a:gd name="connsiteY1" fmla="*/ 5107 h 37635"/>
              <a:gd name="connsiteX2" fmla="*/ 23250 w 86049"/>
              <a:gd name="connsiteY2" fmla="*/ 7932 h 37635"/>
              <a:gd name="connsiteX3" fmla="*/ 15443 w 86049"/>
              <a:gd name="connsiteY3" fmla="*/ 14637 h 37635"/>
              <a:gd name="connsiteX4" fmla="*/ 14517 w 86049"/>
              <a:gd name="connsiteY4" fmla="*/ 14602 h 37635"/>
              <a:gd name="connsiteX5" fmla="*/ 11428 w 86049"/>
              <a:gd name="connsiteY5" fmla="*/ 14485 h 37635"/>
              <a:gd name="connsiteX6" fmla="*/ 39 w 86049"/>
              <a:gd name="connsiteY6" fmla="*/ 18181 h 37635"/>
              <a:gd name="connsiteX7" fmla="*/ 10831 w 86049"/>
              <a:gd name="connsiteY7" fmla="*/ 30108 h 37635"/>
              <a:gd name="connsiteX8" fmla="*/ 30398 w 86049"/>
              <a:gd name="connsiteY8" fmla="*/ 37635 h 37635"/>
              <a:gd name="connsiteX9" fmla="*/ 34419 w 86049"/>
              <a:gd name="connsiteY9" fmla="*/ 36996 h 37635"/>
              <a:gd name="connsiteX10" fmla="*/ 85987 w 86049"/>
              <a:gd name="connsiteY10" fmla="*/ 22192 h 37635"/>
              <a:gd name="connsiteX11" fmla="*/ 58717 w 86049"/>
              <a:gd name="connsiteY11" fmla="*/ 2060 h 37635"/>
              <a:gd name="connsiteX12" fmla="*/ 31604 w 86049"/>
              <a:gd name="connsiteY12" fmla="*/ 663 h 37635"/>
              <a:gd name="connsiteX0" fmla="*/ 31604 w 77695"/>
              <a:gd name="connsiteY0" fmla="*/ 1620 h 44988"/>
              <a:gd name="connsiteX1" fmla="*/ 28313 w 77695"/>
              <a:gd name="connsiteY1" fmla="*/ 6064 h 44988"/>
              <a:gd name="connsiteX2" fmla="*/ 23250 w 77695"/>
              <a:gd name="connsiteY2" fmla="*/ 8889 h 44988"/>
              <a:gd name="connsiteX3" fmla="*/ 15443 w 77695"/>
              <a:gd name="connsiteY3" fmla="*/ 15594 h 44988"/>
              <a:gd name="connsiteX4" fmla="*/ 14517 w 77695"/>
              <a:gd name="connsiteY4" fmla="*/ 15559 h 44988"/>
              <a:gd name="connsiteX5" fmla="*/ 11428 w 77695"/>
              <a:gd name="connsiteY5" fmla="*/ 15442 h 44988"/>
              <a:gd name="connsiteX6" fmla="*/ 39 w 77695"/>
              <a:gd name="connsiteY6" fmla="*/ 19138 h 44988"/>
              <a:gd name="connsiteX7" fmla="*/ 10831 w 77695"/>
              <a:gd name="connsiteY7" fmla="*/ 31065 h 44988"/>
              <a:gd name="connsiteX8" fmla="*/ 30398 w 77695"/>
              <a:gd name="connsiteY8" fmla="*/ 38592 h 44988"/>
              <a:gd name="connsiteX9" fmla="*/ 34419 w 77695"/>
              <a:gd name="connsiteY9" fmla="*/ 37953 h 44988"/>
              <a:gd name="connsiteX10" fmla="*/ 77601 w 77695"/>
              <a:gd name="connsiteY10" fmla="*/ 36699 h 44988"/>
              <a:gd name="connsiteX11" fmla="*/ 58717 w 77695"/>
              <a:gd name="connsiteY11" fmla="*/ 3017 h 44988"/>
              <a:gd name="connsiteX12" fmla="*/ 31604 w 77695"/>
              <a:gd name="connsiteY12" fmla="*/ 1620 h 44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7695" h="44988" extrusionOk="0">
                <a:moveTo>
                  <a:pt x="31604" y="1620"/>
                </a:moveTo>
                <a:cubicBezTo>
                  <a:pt x="28122" y="1620"/>
                  <a:pt x="29705" y="4853"/>
                  <a:pt x="28313" y="6064"/>
                </a:cubicBezTo>
                <a:cubicBezTo>
                  <a:pt x="26921" y="7276"/>
                  <a:pt x="25395" y="7301"/>
                  <a:pt x="23250" y="8889"/>
                </a:cubicBezTo>
                <a:cubicBezTo>
                  <a:pt x="21105" y="10477"/>
                  <a:pt x="22697" y="15594"/>
                  <a:pt x="15443" y="15594"/>
                </a:cubicBezTo>
                <a:cubicBezTo>
                  <a:pt x="15146" y="15594"/>
                  <a:pt x="14837" y="15582"/>
                  <a:pt x="14517" y="15559"/>
                </a:cubicBezTo>
                <a:cubicBezTo>
                  <a:pt x="13445" y="15480"/>
                  <a:pt x="12413" y="15442"/>
                  <a:pt x="11428" y="15442"/>
                </a:cubicBezTo>
                <a:cubicBezTo>
                  <a:pt x="4945" y="15442"/>
                  <a:pt x="511" y="17065"/>
                  <a:pt x="39" y="19138"/>
                </a:cubicBezTo>
                <a:cubicBezTo>
                  <a:pt x="-501" y="21523"/>
                  <a:pt x="4649" y="28355"/>
                  <a:pt x="10831" y="31065"/>
                </a:cubicBezTo>
                <a:cubicBezTo>
                  <a:pt x="16017" y="33341"/>
                  <a:pt x="23339" y="38592"/>
                  <a:pt x="30398" y="38592"/>
                </a:cubicBezTo>
                <a:cubicBezTo>
                  <a:pt x="31754" y="38592"/>
                  <a:pt x="26552" y="38268"/>
                  <a:pt x="34419" y="37953"/>
                </a:cubicBezTo>
                <a:cubicBezTo>
                  <a:pt x="42286" y="37638"/>
                  <a:pt x="76300" y="54756"/>
                  <a:pt x="77601" y="36699"/>
                </a:cubicBezTo>
                <a:cubicBezTo>
                  <a:pt x="78903" y="18642"/>
                  <a:pt x="66383" y="8864"/>
                  <a:pt x="58717" y="3017"/>
                </a:cubicBezTo>
                <a:cubicBezTo>
                  <a:pt x="51051" y="-2830"/>
                  <a:pt x="43407" y="1620"/>
                  <a:pt x="31604" y="162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63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31;p4">
            <a:extLst>
              <a:ext uri="{FF2B5EF4-FFF2-40B4-BE49-F238E27FC236}">
                <a16:creationId xmlns:a16="http://schemas.microsoft.com/office/drawing/2014/main" id="{3961D41C-692B-42A8-87F2-FC59DE6A9946}"/>
              </a:ext>
            </a:extLst>
          </p:cNvPr>
          <p:cNvSpPr/>
          <p:nvPr userDrawn="1"/>
        </p:nvSpPr>
        <p:spPr>
          <a:xfrm rot="-5553048">
            <a:off x="-1728792" y="3031550"/>
            <a:ext cx="4562744" cy="5532834"/>
          </a:xfrm>
          <a:custGeom>
            <a:avLst/>
            <a:gdLst>
              <a:gd name="connsiteX0" fmla="*/ 17321 w 71277"/>
              <a:gd name="connsiteY0" fmla="*/ 0 h 87423"/>
              <a:gd name="connsiteX1" fmla="*/ 9011 w 71277"/>
              <a:gd name="connsiteY1" fmla="*/ 27428 h 87423"/>
              <a:gd name="connsiteX2" fmla="*/ 2082 w 71277"/>
              <a:gd name="connsiteY2" fmla="*/ 50348 h 87423"/>
              <a:gd name="connsiteX3" fmla="*/ 15302 w 71277"/>
              <a:gd name="connsiteY3" fmla="*/ 87423 h 87423"/>
              <a:gd name="connsiteX4" fmla="*/ 19065 w 71277"/>
              <a:gd name="connsiteY4" fmla="*/ 85987 h 87423"/>
              <a:gd name="connsiteX5" fmla="*/ 26399 w 71277"/>
              <a:gd name="connsiteY5" fmla="*/ 82951 h 87423"/>
              <a:gd name="connsiteX6" fmla="*/ 32515 w 71277"/>
              <a:gd name="connsiteY6" fmla="*/ 83740 h 87423"/>
              <a:gd name="connsiteX7" fmla="*/ 39127 w 71277"/>
              <a:gd name="connsiteY7" fmla="*/ 79207 h 87423"/>
              <a:gd name="connsiteX8" fmla="*/ 70575 w 71277"/>
              <a:gd name="connsiteY8" fmla="*/ 44134 h 87423"/>
              <a:gd name="connsiteX9" fmla="*/ 25270 w 71277"/>
              <a:gd name="connsiteY9" fmla="*/ 1874 h 87423"/>
              <a:gd name="connsiteX10" fmla="*/ 17321 w 71277"/>
              <a:gd name="connsiteY10" fmla="*/ 0 h 87423"/>
              <a:gd name="connsiteX0" fmla="*/ 17108 w 71064"/>
              <a:gd name="connsiteY0" fmla="*/ 0 h 86173"/>
              <a:gd name="connsiteX1" fmla="*/ 8798 w 71064"/>
              <a:gd name="connsiteY1" fmla="*/ 27428 h 86173"/>
              <a:gd name="connsiteX2" fmla="*/ 1869 w 71064"/>
              <a:gd name="connsiteY2" fmla="*/ 50348 h 86173"/>
              <a:gd name="connsiteX3" fmla="*/ 11781 w 71064"/>
              <a:gd name="connsiteY3" fmla="*/ 76346 h 86173"/>
              <a:gd name="connsiteX4" fmla="*/ 18852 w 71064"/>
              <a:gd name="connsiteY4" fmla="*/ 85987 h 86173"/>
              <a:gd name="connsiteX5" fmla="*/ 26186 w 71064"/>
              <a:gd name="connsiteY5" fmla="*/ 82951 h 86173"/>
              <a:gd name="connsiteX6" fmla="*/ 32302 w 71064"/>
              <a:gd name="connsiteY6" fmla="*/ 83740 h 86173"/>
              <a:gd name="connsiteX7" fmla="*/ 38914 w 71064"/>
              <a:gd name="connsiteY7" fmla="*/ 79207 h 86173"/>
              <a:gd name="connsiteX8" fmla="*/ 70362 w 71064"/>
              <a:gd name="connsiteY8" fmla="*/ 44134 h 86173"/>
              <a:gd name="connsiteX9" fmla="*/ 25057 w 71064"/>
              <a:gd name="connsiteY9" fmla="*/ 1874 h 86173"/>
              <a:gd name="connsiteX10" fmla="*/ 17108 w 71064"/>
              <a:gd name="connsiteY10" fmla="*/ 0 h 86173"/>
              <a:gd name="connsiteX0" fmla="*/ 17108 w 71064"/>
              <a:gd name="connsiteY0" fmla="*/ 0 h 86173"/>
              <a:gd name="connsiteX1" fmla="*/ 8798 w 71064"/>
              <a:gd name="connsiteY1" fmla="*/ 27428 h 86173"/>
              <a:gd name="connsiteX2" fmla="*/ 1869 w 71064"/>
              <a:gd name="connsiteY2" fmla="*/ 50348 h 86173"/>
              <a:gd name="connsiteX3" fmla="*/ 11781 w 71064"/>
              <a:gd name="connsiteY3" fmla="*/ 76346 h 86173"/>
              <a:gd name="connsiteX4" fmla="*/ 18852 w 71064"/>
              <a:gd name="connsiteY4" fmla="*/ 85987 h 86173"/>
              <a:gd name="connsiteX5" fmla="*/ 26186 w 71064"/>
              <a:gd name="connsiteY5" fmla="*/ 82951 h 86173"/>
              <a:gd name="connsiteX6" fmla="*/ 32302 w 71064"/>
              <a:gd name="connsiteY6" fmla="*/ 83740 h 86173"/>
              <a:gd name="connsiteX7" fmla="*/ 39225 w 71064"/>
              <a:gd name="connsiteY7" fmla="*/ 77558 h 86173"/>
              <a:gd name="connsiteX8" fmla="*/ 70362 w 71064"/>
              <a:gd name="connsiteY8" fmla="*/ 44134 h 86173"/>
              <a:gd name="connsiteX9" fmla="*/ 25057 w 71064"/>
              <a:gd name="connsiteY9" fmla="*/ 1874 h 86173"/>
              <a:gd name="connsiteX10" fmla="*/ 17108 w 71064"/>
              <a:gd name="connsiteY10" fmla="*/ 0 h 8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1064" h="86173" extrusionOk="0">
                <a:moveTo>
                  <a:pt x="17108" y="0"/>
                </a:moveTo>
                <a:cubicBezTo>
                  <a:pt x="7191" y="0"/>
                  <a:pt x="20120" y="22801"/>
                  <a:pt x="8798" y="27428"/>
                </a:cubicBezTo>
                <a:cubicBezTo>
                  <a:pt x="-4918" y="33034"/>
                  <a:pt x="1372" y="42195"/>
                  <a:pt x="1869" y="50348"/>
                </a:cubicBezTo>
                <a:cubicBezTo>
                  <a:pt x="2366" y="58501"/>
                  <a:pt x="2707" y="76346"/>
                  <a:pt x="11781" y="76346"/>
                </a:cubicBezTo>
                <a:cubicBezTo>
                  <a:pt x="13070" y="76346"/>
                  <a:pt x="16451" y="84886"/>
                  <a:pt x="18852" y="85987"/>
                </a:cubicBezTo>
                <a:cubicBezTo>
                  <a:pt x="21253" y="87088"/>
                  <a:pt x="24138" y="82951"/>
                  <a:pt x="26186" y="82951"/>
                </a:cubicBezTo>
                <a:cubicBezTo>
                  <a:pt x="28472" y="82951"/>
                  <a:pt x="30129" y="84639"/>
                  <a:pt x="32302" y="83740"/>
                </a:cubicBezTo>
                <a:cubicBezTo>
                  <a:pt x="34475" y="82841"/>
                  <a:pt x="36698" y="81206"/>
                  <a:pt x="39225" y="77558"/>
                </a:cubicBezTo>
                <a:cubicBezTo>
                  <a:pt x="62920" y="43354"/>
                  <a:pt x="70362" y="44134"/>
                  <a:pt x="70362" y="44134"/>
                </a:cubicBezTo>
                <a:cubicBezTo>
                  <a:pt x="76244" y="21496"/>
                  <a:pt x="43804" y="9396"/>
                  <a:pt x="25057" y="1874"/>
                </a:cubicBezTo>
                <a:cubicBezTo>
                  <a:pt x="21784" y="560"/>
                  <a:pt x="19206" y="0"/>
                  <a:pt x="17108" y="0"/>
                </a:cubicBezTo>
                <a:close/>
              </a:path>
            </a:pathLst>
          </a:custGeom>
          <a:solidFill>
            <a:srgbClr val="AC9078">
              <a:alpha val="72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1592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bg2">
                    <a:lumMod val="50000"/>
                  </a:schemeClr>
                </a:solidFill>
              </a:defRPr>
            </a:lvl2pPr>
            <a:lvl3pPr>
              <a:defRPr>
                <a:solidFill>
                  <a:schemeClr val="bg2">
                    <a:lumMod val="50000"/>
                  </a:schemeClr>
                </a:solidFill>
              </a:defRPr>
            </a:lvl3pPr>
            <a:lvl4pPr>
              <a:defRPr>
                <a:solidFill>
                  <a:schemeClr val="bg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2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Google Shape;20;p3">
            <a:extLst>
              <a:ext uri="{FF2B5EF4-FFF2-40B4-BE49-F238E27FC236}">
                <a16:creationId xmlns:a16="http://schemas.microsoft.com/office/drawing/2014/main" id="{BD2B567A-3974-49D9-9365-ABA029B9EE22}"/>
              </a:ext>
            </a:extLst>
          </p:cNvPr>
          <p:cNvSpPr/>
          <p:nvPr userDrawn="1"/>
        </p:nvSpPr>
        <p:spPr>
          <a:xfrm rot="-10285629">
            <a:off x="9404695" y="-1198950"/>
            <a:ext cx="8382351" cy="4853662"/>
          </a:xfrm>
          <a:custGeom>
            <a:avLst/>
            <a:gdLst>
              <a:gd name="connsiteX0" fmla="*/ 54690 w 86030"/>
              <a:gd name="connsiteY0" fmla="*/ 0 h 53452"/>
              <a:gd name="connsiteX1" fmla="*/ 43799 w 86030"/>
              <a:gd name="connsiteY1" fmla="*/ 3304 h 53452"/>
              <a:gd name="connsiteX2" fmla="*/ 23250 w 86030"/>
              <a:gd name="connsiteY2" fmla="*/ 23749 h 53452"/>
              <a:gd name="connsiteX3" fmla="*/ 15443 w 86030"/>
              <a:gd name="connsiteY3" fmla="*/ 30454 h 53452"/>
              <a:gd name="connsiteX4" fmla="*/ 14517 w 86030"/>
              <a:gd name="connsiteY4" fmla="*/ 30419 h 53452"/>
              <a:gd name="connsiteX5" fmla="*/ 11428 w 86030"/>
              <a:gd name="connsiteY5" fmla="*/ 30302 h 53452"/>
              <a:gd name="connsiteX6" fmla="*/ 39 w 86030"/>
              <a:gd name="connsiteY6" fmla="*/ 33998 h 53452"/>
              <a:gd name="connsiteX7" fmla="*/ 10831 w 86030"/>
              <a:gd name="connsiteY7" fmla="*/ 45925 h 53452"/>
              <a:gd name="connsiteX8" fmla="*/ 30398 w 86030"/>
              <a:gd name="connsiteY8" fmla="*/ 53452 h 53452"/>
              <a:gd name="connsiteX9" fmla="*/ 34419 w 86030"/>
              <a:gd name="connsiteY9" fmla="*/ 52813 h 53452"/>
              <a:gd name="connsiteX10" fmla="*/ 85987 w 86030"/>
              <a:gd name="connsiteY10" fmla="*/ 38009 h 53452"/>
              <a:gd name="connsiteX11" fmla="*/ 58717 w 86030"/>
              <a:gd name="connsiteY11" fmla="*/ 17877 h 53452"/>
              <a:gd name="connsiteX12" fmla="*/ 54690 w 86030"/>
              <a:gd name="connsiteY12" fmla="*/ 0 h 53452"/>
              <a:gd name="connsiteX0" fmla="*/ 31604 w 86049"/>
              <a:gd name="connsiteY0" fmla="*/ 13249 h 50221"/>
              <a:gd name="connsiteX1" fmla="*/ 43799 w 86049"/>
              <a:gd name="connsiteY1" fmla="*/ 73 h 50221"/>
              <a:gd name="connsiteX2" fmla="*/ 23250 w 86049"/>
              <a:gd name="connsiteY2" fmla="*/ 20518 h 50221"/>
              <a:gd name="connsiteX3" fmla="*/ 15443 w 86049"/>
              <a:gd name="connsiteY3" fmla="*/ 27223 h 50221"/>
              <a:gd name="connsiteX4" fmla="*/ 14517 w 86049"/>
              <a:gd name="connsiteY4" fmla="*/ 27188 h 50221"/>
              <a:gd name="connsiteX5" fmla="*/ 11428 w 86049"/>
              <a:gd name="connsiteY5" fmla="*/ 27071 h 50221"/>
              <a:gd name="connsiteX6" fmla="*/ 39 w 86049"/>
              <a:gd name="connsiteY6" fmla="*/ 30767 h 50221"/>
              <a:gd name="connsiteX7" fmla="*/ 10831 w 86049"/>
              <a:gd name="connsiteY7" fmla="*/ 42694 h 50221"/>
              <a:gd name="connsiteX8" fmla="*/ 30398 w 86049"/>
              <a:gd name="connsiteY8" fmla="*/ 50221 h 50221"/>
              <a:gd name="connsiteX9" fmla="*/ 34419 w 86049"/>
              <a:gd name="connsiteY9" fmla="*/ 49582 h 50221"/>
              <a:gd name="connsiteX10" fmla="*/ 85987 w 86049"/>
              <a:gd name="connsiteY10" fmla="*/ 34778 h 50221"/>
              <a:gd name="connsiteX11" fmla="*/ 58717 w 86049"/>
              <a:gd name="connsiteY11" fmla="*/ 14646 h 50221"/>
              <a:gd name="connsiteX12" fmla="*/ 31604 w 86049"/>
              <a:gd name="connsiteY12" fmla="*/ 13249 h 50221"/>
              <a:gd name="connsiteX0" fmla="*/ 31604 w 86049"/>
              <a:gd name="connsiteY0" fmla="*/ 663 h 37635"/>
              <a:gd name="connsiteX1" fmla="*/ 28313 w 86049"/>
              <a:gd name="connsiteY1" fmla="*/ 5107 h 37635"/>
              <a:gd name="connsiteX2" fmla="*/ 23250 w 86049"/>
              <a:gd name="connsiteY2" fmla="*/ 7932 h 37635"/>
              <a:gd name="connsiteX3" fmla="*/ 15443 w 86049"/>
              <a:gd name="connsiteY3" fmla="*/ 14637 h 37635"/>
              <a:gd name="connsiteX4" fmla="*/ 14517 w 86049"/>
              <a:gd name="connsiteY4" fmla="*/ 14602 h 37635"/>
              <a:gd name="connsiteX5" fmla="*/ 11428 w 86049"/>
              <a:gd name="connsiteY5" fmla="*/ 14485 h 37635"/>
              <a:gd name="connsiteX6" fmla="*/ 39 w 86049"/>
              <a:gd name="connsiteY6" fmla="*/ 18181 h 37635"/>
              <a:gd name="connsiteX7" fmla="*/ 10831 w 86049"/>
              <a:gd name="connsiteY7" fmla="*/ 30108 h 37635"/>
              <a:gd name="connsiteX8" fmla="*/ 30398 w 86049"/>
              <a:gd name="connsiteY8" fmla="*/ 37635 h 37635"/>
              <a:gd name="connsiteX9" fmla="*/ 34419 w 86049"/>
              <a:gd name="connsiteY9" fmla="*/ 36996 h 37635"/>
              <a:gd name="connsiteX10" fmla="*/ 85987 w 86049"/>
              <a:gd name="connsiteY10" fmla="*/ 22192 h 37635"/>
              <a:gd name="connsiteX11" fmla="*/ 58717 w 86049"/>
              <a:gd name="connsiteY11" fmla="*/ 2060 h 37635"/>
              <a:gd name="connsiteX12" fmla="*/ 31604 w 86049"/>
              <a:gd name="connsiteY12" fmla="*/ 663 h 37635"/>
              <a:gd name="connsiteX0" fmla="*/ 31604 w 77695"/>
              <a:gd name="connsiteY0" fmla="*/ 1620 h 44988"/>
              <a:gd name="connsiteX1" fmla="*/ 28313 w 77695"/>
              <a:gd name="connsiteY1" fmla="*/ 6064 h 44988"/>
              <a:gd name="connsiteX2" fmla="*/ 23250 w 77695"/>
              <a:gd name="connsiteY2" fmla="*/ 8889 h 44988"/>
              <a:gd name="connsiteX3" fmla="*/ 15443 w 77695"/>
              <a:gd name="connsiteY3" fmla="*/ 15594 h 44988"/>
              <a:gd name="connsiteX4" fmla="*/ 14517 w 77695"/>
              <a:gd name="connsiteY4" fmla="*/ 15559 h 44988"/>
              <a:gd name="connsiteX5" fmla="*/ 11428 w 77695"/>
              <a:gd name="connsiteY5" fmla="*/ 15442 h 44988"/>
              <a:gd name="connsiteX6" fmla="*/ 39 w 77695"/>
              <a:gd name="connsiteY6" fmla="*/ 19138 h 44988"/>
              <a:gd name="connsiteX7" fmla="*/ 10831 w 77695"/>
              <a:gd name="connsiteY7" fmla="*/ 31065 h 44988"/>
              <a:gd name="connsiteX8" fmla="*/ 30398 w 77695"/>
              <a:gd name="connsiteY8" fmla="*/ 38592 h 44988"/>
              <a:gd name="connsiteX9" fmla="*/ 34419 w 77695"/>
              <a:gd name="connsiteY9" fmla="*/ 37953 h 44988"/>
              <a:gd name="connsiteX10" fmla="*/ 77601 w 77695"/>
              <a:gd name="connsiteY10" fmla="*/ 36699 h 44988"/>
              <a:gd name="connsiteX11" fmla="*/ 58717 w 77695"/>
              <a:gd name="connsiteY11" fmla="*/ 3017 h 44988"/>
              <a:gd name="connsiteX12" fmla="*/ 31604 w 77695"/>
              <a:gd name="connsiteY12" fmla="*/ 1620 h 44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7695" h="44988" extrusionOk="0">
                <a:moveTo>
                  <a:pt x="31604" y="1620"/>
                </a:moveTo>
                <a:cubicBezTo>
                  <a:pt x="28122" y="1620"/>
                  <a:pt x="29705" y="4853"/>
                  <a:pt x="28313" y="6064"/>
                </a:cubicBezTo>
                <a:cubicBezTo>
                  <a:pt x="26921" y="7276"/>
                  <a:pt x="25395" y="7301"/>
                  <a:pt x="23250" y="8889"/>
                </a:cubicBezTo>
                <a:cubicBezTo>
                  <a:pt x="21105" y="10477"/>
                  <a:pt x="22697" y="15594"/>
                  <a:pt x="15443" y="15594"/>
                </a:cubicBezTo>
                <a:cubicBezTo>
                  <a:pt x="15146" y="15594"/>
                  <a:pt x="14837" y="15582"/>
                  <a:pt x="14517" y="15559"/>
                </a:cubicBezTo>
                <a:cubicBezTo>
                  <a:pt x="13445" y="15480"/>
                  <a:pt x="12413" y="15442"/>
                  <a:pt x="11428" y="15442"/>
                </a:cubicBezTo>
                <a:cubicBezTo>
                  <a:pt x="4945" y="15442"/>
                  <a:pt x="511" y="17065"/>
                  <a:pt x="39" y="19138"/>
                </a:cubicBezTo>
                <a:cubicBezTo>
                  <a:pt x="-501" y="21523"/>
                  <a:pt x="4649" y="28355"/>
                  <a:pt x="10831" y="31065"/>
                </a:cubicBezTo>
                <a:cubicBezTo>
                  <a:pt x="16017" y="33341"/>
                  <a:pt x="23339" y="38592"/>
                  <a:pt x="30398" y="38592"/>
                </a:cubicBezTo>
                <a:cubicBezTo>
                  <a:pt x="31754" y="38592"/>
                  <a:pt x="26552" y="38268"/>
                  <a:pt x="34419" y="37953"/>
                </a:cubicBezTo>
                <a:cubicBezTo>
                  <a:pt x="42286" y="37638"/>
                  <a:pt x="76300" y="54756"/>
                  <a:pt x="77601" y="36699"/>
                </a:cubicBezTo>
                <a:cubicBezTo>
                  <a:pt x="78903" y="18642"/>
                  <a:pt x="66383" y="8864"/>
                  <a:pt x="58717" y="3017"/>
                </a:cubicBezTo>
                <a:cubicBezTo>
                  <a:pt x="51051" y="-2830"/>
                  <a:pt x="43407" y="1620"/>
                  <a:pt x="31604" y="162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63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192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54238" y="1825625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B639A41-DCFC-4CBD-95A9-00918D1E0C5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54237" y="2515712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2E6A01D8-B25F-4969-9EEE-02D40393738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339448" y="3400900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EB1E053F-9E78-4E0C-A2B0-31B557FA902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39447" y="4090987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7B877FE1-D2EF-4E9F-AC08-DACA8D5147E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331088" y="4916011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78790F4C-C0C7-494A-ACE0-B312EAD20E8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331087" y="5606098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8" name="Google Shape;20;p3">
            <a:extLst>
              <a:ext uri="{FF2B5EF4-FFF2-40B4-BE49-F238E27FC236}">
                <a16:creationId xmlns:a16="http://schemas.microsoft.com/office/drawing/2014/main" id="{3661A48C-0581-4A50-81C7-B3B86E720CED}"/>
              </a:ext>
            </a:extLst>
          </p:cNvPr>
          <p:cNvSpPr/>
          <p:nvPr userDrawn="1"/>
        </p:nvSpPr>
        <p:spPr>
          <a:xfrm rot="-10285629">
            <a:off x="9404695" y="-1198950"/>
            <a:ext cx="8382351" cy="4853662"/>
          </a:xfrm>
          <a:custGeom>
            <a:avLst/>
            <a:gdLst>
              <a:gd name="connsiteX0" fmla="*/ 54690 w 86030"/>
              <a:gd name="connsiteY0" fmla="*/ 0 h 53452"/>
              <a:gd name="connsiteX1" fmla="*/ 43799 w 86030"/>
              <a:gd name="connsiteY1" fmla="*/ 3304 h 53452"/>
              <a:gd name="connsiteX2" fmla="*/ 23250 w 86030"/>
              <a:gd name="connsiteY2" fmla="*/ 23749 h 53452"/>
              <a:gd name="connsiteX3" fmla="*/ 15443 w 86030"/>
              <a:gd name="connsiteY3" fmla="*/ 30454 h 53452"/>
              <a:gd name="connsiteX4" fmla="*/ 14517 w 86030"/>
              <a:gd name="connsiteY4" fmla="*/ 30419 h 53452"/>
              <a:gd name="connsiteX5" fmla="*/ 11428 w 86030"/>
              <a:gd name="connsiteY5" fmla="*/ 30302 h 53452"/>
              <a:gd name="connsiteX6" fmla="*/ 39 w 86030"/>
              <a:gd name="connsiteY6" fmla="*/ 33998 h 53452"/>
              <a:gd name="connsiteX7" fmla="*/ 10831 w 86030"/>
              <a:gd name="connsiteY7" fmla="*/ 45925 h 53452"/>
              <a:gd name="connsiteX8" fmla="*/ 30398 w 86030"/>
              <a:gd name="connsiteY8" fmla="*/ 53452 h 53452"/>
              <a:gd name="connsiteX9" fmla="*/ 34419 w 86030"/>
              <a:gd name="connsiteY9" fmla="*/ 52813 h 53452"/>
              <a:gd name="connsiteX10" fmla="*/ 85987 w 86030"/>
              <a:gd name="connsiteY10" fmla="*/ 38009 h 53452"/>
              <a:gd name="connsiteX11" fmla="*/ 58717 w 86030"/>
              <a:gd name="connsiteY11" fmla="*/ 17877 h 53452"/>
              <a:gd name="connsiteX12" fmla="*/ 54690 w 86030"/>
              <a:gd name="connsiteY12" fmla="*/ 0 h 53452"/>
              <a:gd name="connsiteX0" fmla="*/ 31604 w 86049"/>
              <a:gd name="connsiteY0" fmla="*/ 13249 h 50221"/>
              <a:gd name="connsiteX1" fmla="*/ 43799 w 86049"/>
              <a:gd name="connsiteY1" fmla="*/ 73 h 50221"/>
              <a:gd name="connsiteX2" fmla="*/ 23250 w 86049"/>
              <a:gd name="connsiteY2" fmla="*/ 20518 h 50221"/>
              <a:gd name="connsiteX3" fmla="*/ 15443 w 86049"/>
              <a:gd name="connsiteY3" fmla="*/ 27223 h 50221"/>
              <a:gd name="connsiteX4" fmla="*/ 14517 w 86049"/>
              <a:gd name="connsiteY4" fmla="*/ 27188 h 50221"/>
              <a:gd name="connsiteX5" fmla="*/ 11428 w 86049"/>
              <a:gd name="connsiteY5" fmla="*/ 27071 h 50221"/>
              <a:gd name="connsiteX6" fmla="*/ 39 w 86049"/>
              <a:gd name="connsiteY6" fmla="*/ 30767 h 50221"/>
              <a:gd name="connsiteX7" fmla="*/ 10831 w 86049"/>
              <a:gd name="connsiteY7" fmla="*/ 42694 h 50221"/>
              <a:gd name="connsiteX8" fmla="*/ 30398 w 86049"/>
              <a:gd name="connsiteY8" fmla="*/ 50221 h 50221"/>
              <a:gd name="connsiteX9" fmla="*/ 34419 w 86049"/>
              <a:gd name="connsiteY9" fmla="*/ 49582 h 50221"/>
              <a:gd name="connsiteX10" fmla="*/ 85987 w 86049"/>
              <a:gd name="connsiteY10" fmla="*/ 34778 h 50221"/>
              <a:gd name="connsiteX11" fmla="*/ 58717 w 86049"/>
              <a:gd name="connsiteY11" fmla="*/ 14646 h 50221"/>
              <a:gd name="connsiteX12" fmla="*/ 31604 w 86049"/>
              <a:gd name="connsiteY12" fmla="*/ 13249 h 50221"/>
              <a:gd name="connsiteX0" fmla="*/ 31604 w 86049"/>
              <a:gd name="connsiteY0" fmla="*/ 663 h 37635"/>
              <a:gd name="connsiteX1" fmla="*/ 28313 w 86049"/>
              <a:gd name="connsiteY1" fmla="*/ 5107 h 37635"/>
              <a:gd name="connsiteX2" fmla="*/ 23250 w 86049"/>
              <a:gd name="connsiteY2" fmla="*/ 7932 h 37635"/>
              <a:gd name="connsiteX3" fmla="*/ 15443 w 86049"/>
              <a:gd name="connsiteY3" fmla="*/ 14637 h 37635"/>
              <a:gd name="connsiteX4" fmla="*/ 14517 w 86049"/>
              <a:gd name="connsiteY4" fmla="*/ 14602 h 37635"/>
              <a:gd name="connsiteX5" fmla="*/ 11428 w 86049"/>
              <a:gd name="connsiteY5" fmla="*/ 14485 h 37635"/>
              <a:gd name="connsiteX6" fmla="*/ 39 w 86049"/>
              <a:gd name="connsiteY6" fmla="*/ 18181 h 37635"/>
              <a:gd name="connsiteX7" fmla="*/ 10831 w 86049"/>
              <a:gd name="connsiteY7" fmla="*/ 30108 h 37635"/>
              <a:gd name="connsiteX8" fmla="*/ 30398 w 86049"/>
              <a:gd name="connsiteY8" fmla="*/ 37635 h 37635"/>
              <a:gd name="connsiteX9" fmla="*/ 34419 w 86049"/>
              <a:gd name="connsiteY9" fmla="*/ 36996 h 37635"/>
              <a:gd name="connsiteX10" fmla="*/ 85987 w 86049"/>
              <a:gd name="connsiteY10" fmla="*/ 22192 h 37635"/>
              <a:gd name="connsiteX11" fmla="*/ 58717 w 86049"/>
              <a:gd name="connsiteY11" fmla="*/ 2060 h 37635"/>
              <a:gd name="connsiteX12" fmla="*/ 31604 w 86049"/>
              <a:gd name="connsiteY12" fmla="*/ 663 h 37635"/>
              <a:gd name="connsiteX0" fmla="*/ 31604 w 77695"/>
              <a:gd name="connsiteY0" fmla="*/ 1620 h 44988"/>
              <a:gd name="connsiteX1" fmla="*/ 28313 w 77695"/>
              <a:gd name="connsiteY1" fmla="*/ 6064 h 44988"/>
              <a:gd name="connsiteX2" fmla="*/ 23250 w 77695"/>
              <a:gd name="connsiteY2" fmla="*/ 8889 h 44988"/>
              <a:gd name="connsiteX3" fmla="*/ 15443 w 77695"/>
              <a:gd name="connsiteY3" fmla="*/ 15594 h 44988"/>
              <a:gd name="connsiteX4" fmla="*/ 14517 w 77695"/>
              <a:gd name="connsiteY4" fmla="*/ 15559 h 44988"/>
              <a:gd name="connsiteX5" fmla="*/ 11428 w 77695"/>
              <a:gd name="connsiteY5" fmla="*/ 15442 h 44988"/>
              <a:gd name="connsiteX6" fmla="*/ 39 w 77695"/>
              <a:gd name="connsiteY6" fmla="*/ 19138 h 44988"/>
              <a:gd name="connsiteX7" fmla="*/ 10831 w 77695"/>
              <a:gd name="connsiteY7" fmla="*/ 31065 h 44988"/>
              <a:gd name="connsiteX8" fmla="*/ 30398 w 77695"/>
              <a:gd name="connsiteY8" fmla="*/ 38592 h 44988"/>
              <a:gd name="connsiteX9" fmla="*/ 34419 w 77695"/>
              <a:gd name="connsiteY9" fmla="*/ 37953 h 44988"/>
              <a:gd name="connsiteX10" fmla="*/ 77601 w 77695"/>
              <a:gd name="connsiteY10" fmla="*/ 36699 h 44988"/>
              <a:gd name="connsiteX11" fmla="*/ 58717 w 77695"/>
              <a:gd name="connsiteY11" fmla="*/ 3017 h 44988"/>
              <a:gd name="connsiteX12" fmla="*/ 31604 w 77695"/>
              <a:gd name="connsiteY12" fmla="*/ 1620 h 44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7695" h="44988" extrusionOk="0">
                <a:moveTo>
                  <a:pt x="31604" y="1620"/>
                </a:moveTo>
                <a:cubicBezTo>
                  <a:pt x="28122" y="1620"/>
                  <a:pt x="29705" y="4853"/>
                  <a:pt x="28313" y="6064"/>
                </a:cubicBezTo>
                <a:cubicBezTo>
                  <a:pt x="26921" y="7276"/>
                  <a:pt x="25395" y="7301"/>
                  <a:pt x="23250" y="8889"/>
                </a:cubicBezTo>
                <a:cubicBezTo>
                  <a:pt x="21105" y="10477"/>
                  <a:pt x="22697" y="15594"/>
                  <a:pt x="15443" y="15594"/>
                </a:cubicBezTo>
                <a:cubicBezTo>
                  <a:pt x="15146" y="15594"/>
                  <a:pt x="14837" y="15582"/>
                  <a:pt x="14517" y="15559"/>
                </a:cubicBezTo>
                <a:cubicBezTo>
                  <a:pt x="13445" y="15480"/>
                  <a:pt x="12413" y="15442"/>
                  <a:pt x="11428" y="15442"/>
                </a:cubicBezTo>
                <a:cubicBezTo>
                  <a:pt x="4945" y="15442"/>
                  <a:pt x="511" y="17065"/>
                  <a:pt x="39" y="19138"/>
                </a:cubicBezTo>
                <a:cubicBezTo>
                  <a:pt x="-501" y="21523"/>
                  <a:pt x="4649" y="28355"/>
                  <a:pt x="10831" y="31065"/>
                </a:cubicBezTo>
                <a:cubicBezTo>
                  <a:pt x="16017" y="33341"/>
                  <a:pt x="23339" y="38592"/>
                  <a:pt x="30398" y="38592"/>
                </a:cubicBezTo>
                <a:cubicBezTo>
                  <a:pt x="31754" y="38592"/>
                  <a:pt x="26552" y="38268"/>
                  <a:pt x="34419" y="37953"/>
                </a:cubicBezTo>
                <a:cubicBezTo>
                  <a:pt x="42286" y="37638"/>
                  <a:pt x="76300" y="54756"/>
                  <a:pt x="77601" y="36699"/>
                </a:cubicBezTo>
                <a:cubicBezTo>
                  <a:pt x="78903" y="18642"/>
                  <a:pt x="66383" y="8864"/>
                  <a:pt x="58717" y="3017"/>
                </a:cubicBezTo>
                <a:cubicBezTo>
                  <a:pt x="51051" y="-2830"/>
                  <a:pt x="43407" y="1620"/>
                  <a:pt x="31604" y="162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63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Google Shape;28;p3">
            <a:extLst>
              <a:ext uri="{FF2B5EF4-FFF2-40B4-BE49-F238E27FC236}">
                <a16:creationId xmlns:a16="http://schemas.microsoft.com/office/drawing/2014/main" id="{9B4CC580-A6B9-4823-A8D5-A4110779391A}"/>
              </a:ext>
            </a:extLst>
          </p:cNvPr>
          <p:cNvSpPr/>
          <p:nvPr userDrawn="1"/>
        </p:nvSpPr>
        <p:spPr>
          <a:xfrm>
            <a:off x="548048" y="1925876"/>
            <a:ext cx="672117" cy="512980"/>
          </a:xfrm>
          <a:custGeom>
            <a:avLst/>
            <a:gdLst>
              <a:gd name="connsiteX0" fmla="*/ 23944 w 36088"/>
              <a:gd name="connsiteY0" fmla="*/ 0 h 29796"/>
              <a:gd name="connsiteX1" fmla="*/ 1490 w 36088"/>
              <a:gd name="connsiteY1" fmla="*/ 6817 h 29796"/>
              <a:gd name="connsiteX2" fmla="*/ 5114 w 36088"/>
              <a:gd name="connsiteY2" fmla="*/ 25300 h 29796"/>
              <a:gd name="connsiteX3" fmla="*/ 8553 w 36088"/>
              <a:gd name="connsiteY3" fmla="*/ 29631 h 29796"/>
              <a:gd name="connsiteX4" fmla="*/ 35590 w 36088"/>
              <a:gd name="connsiteY4" fmla="*/ 18845 h 29796"/>
              <a:gd name="connsiteX5" fmla="*/ 26005 w 36088"/>
              <a:gd name="connsiteY5" fmla="*/ 248 h 29796"/>
              <a:gd name="connsiteX6" fmla="*/ 23944 w 36088"/>
              <a:gd name="connsiteY6" fmla="*/ 0 h 29796"/>
              <a:gd name="connsiteX0" fmla="*/ 23543 w 35687"/>
              <a:gd name="connsiteY0" fmla="*/ 0 h 27237"/>
              <a:gd name="connsiteX1" fmla="*/ 1089 w 35687"/>
              <a:gd name="connsiteY1" fmla="*/ 6817 h 27237"/>
              <a:gd name="connsiteX2" fmla="*/ 4713 w 35687"/>
              <a:gd name="connsiteY2" fmla="*/ 25300 h 27237"/>
              <a:gd name="connsiteX3" fmla="*/ 15182 w 35687"/>
              <a:gd name="connsiteY3" fmla="*/ 25949 h 27237"/>
              <a:gd name="connsiteX4" fmla="*/ 35189 w 35687"/>
              <a:gd name="connsiteY4" fmla="*/ 18845 h 27237"/>
              <a:gd name="connsiteX5" fmla="*/ 25604 w 35687"/>
              <a:gd name="connsiteY5" fmla="*/ 248 h 27237"/>
              <a:gd name="connsiteX6" fmla="*/ 23543 w 35687"/>
              <a:gd name="connsiteY6" fmla="*/ 0 h 27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687" h="27237" extrusionOk="0">
                <a:moveTo>
                  <a:pt x="23543" y="0"/>
                </a:moveTo>
                <a:cubicBezTo>
                  <a:pt x="16287" y="0"/>
                  <a:pt x="4227" y="2600"/>
                  <a:pt x="1089" y="6817"/>
                </a:cubicBezTo>
                <a:cubicBezTo>
                  <a:pt x="-2049" y="11034"/>
                  <a:pt x="2364" y="22111"/>
                  <a:pt x="4713" y="25300"/>
                </a:cubicBezTo>
                <a:cubicBezTo>
                  <a:pt x="7062" y="28489"/>
                  <a:pt x="10103" y="27025"/>
                  <a:pt x="15182" y="25949"/>
                </a:cubicBezTo>
                <a:cubicBezTo>
                  <a:pt x="20261" y="24873"/>
                  <a:pt x="33306" y="21287"/>
                  <a:pt x="35189" y="18845"/>
                </a:cubicBezTo>
                <a:cubicBezTo>
                  <a:pt x="37479" y="15871"/>
                  <a:pt x="31460" y="1992"/>
                  <a:pt x="25604" y="248"/>
                </a:cubicBezTo>
                <a:cubicBezTo>
                  <a:pt x="25029" y="77"/>
                  <a:pt x="24332" y="0"/>
                  <a:pt x="23543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  <a:alpha val="25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1" name="Google Shape;28;p3">
            <a:extLst>
              <a:ext uri="{FF2B5EF4-FFF2-40B4-BE49-F238E27FC236}">
                <a16:creationId xmlns:a16="http://schemas.microsoft.com/office/drawing/2014/main" id="{A07208E9-A35F-4C3D-B0A4-99ABB5104050}"/>
              </a:ext>
            </a:extLst>
          </p:cNvPr>
          <p:cNvSpPr/>
          <p:nvPr userDrawn="1"/>
        </p:nvSpPr>
        <p:spPr>
          <a:xfrm>
            <a:off x="548048" y="3443495"/>
            <a:ext cx="672117" cy="512980"/>
          </a:xfrm>
          <a:custGeom>
            <a:avLst/>
            <a:gdLst>
              <a:gd name="connsiteX0" fmla="*/ 23944 w 36088"/>
              <a:gd name="connsiteY0" fmla="*/ 0 h 29796"/>
              <a:gd name="connsiteX1" fmla="*/ 1490 w 36088"/>
              <a:gd name="connsiteY1" fmla="*/ 6817 h 29796"/>
              <a:gd name="connsiteX2" fmla="*/ 5114 w 36088"/>
              <a:gd name="connsiteY2" fmla="*/ 25300 h 29796"/>
              <a:gd name="connsiteX3" fmla="*/ 8553 w 36088"/>
              <a:gd name="connsiteY3" fmla="*/ 29631 h 29796"/>
              <a:gd name="connsiteX4" fmla="*/ 35590 w 36088"/>
              <a:gd name="connsiteY4" fmla="*/ 18845 h 29796"/>
              <a:gd name="connsiteX5" fmla="*/ 26005 w 36088"/>
              <a:gd name="connsiteY5" fmla="*/ 248 h 29796"/>
              <a:gd name="connsiteX6" fmla="*/ 23944 w 36088"/>
              <a:gd name="connsiteY6" fmla="*/ 0 h 29796"/>
              <a:gd name="connsiteX0" fmla="*/ 23543 w 35687"/>
              <a:gd name="connsiteY0" fmla="*/ 0 h 27237"/>
              <a:gd name="connsiteX1" fmla="*/ 1089 w 35687"/>
              <a:gd name="connsiteY1" fmla="*/ 6817 h 27237"/>
              <a:gd name="connsiteX2" fmla="*/ 4713 w 35687"/>
              <a:gd name="connsiteY2" fmla="*/ 25300 h 27237"/>
              <a:gd name="connsiteX3" fmla="*/ 15182 w 35687"/>
              <a:gd name="connsiteY3" fmla="*/ 25949 h 27237"/>
              <a:gd name="connsiteX4" fmla="*/ 35189 w 35687"/>
              <a:gd name="connsiteY4" fmla="*/ 18845 h 27237"/>
              <a:gd name="connsiteX5" fmla="*/ 25604 w 35687"/>
              <a:gd name="connsiteY5" fmla="*/ 248 h 27237"/>
              <a:gd name="connsiteX6" fmla="*/ 23543 w 35687"/>
              <a:gd name="connsiteY6" fmla="*/ 0 h 27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687" h="27237" extrusionOk="0">
                <a:moveTo>
                  <a:pt x="23543" y="0"/>
                </a:moveTo>
                <a:cubicBezTo>
                  <a:pt x="16287" y="0"/>
                  <a:pt x="4227" y="2600"/>
                  <a:pt x="1089" y="6817"/>
                </a:cubicBezTo>
                <a:cubicBezTo>
                  <a:pt x="-2049" y="11034"/>
                  <a:pt x="2364" y="22111"/>
                  <a:pt x="4713" y="25300"/>
                </a:cubicBezTo>
                <a:cubicBezTo>
                  <a:pt x="7062" y="28489"/>
                  <a:pt x="10103" y="27025"/>
                  <a:pt x="15182" y="25949"/>
                </a:cubicBezTo>
                <a:cubicBezTo>
                  <a:pt x="20261" y="24873"/>
                  <a:pt x="33306" y="21287"/>
                  <a:pt x="35189" y="18845"/>
                </a:cubicBezTo>
                <a:cubicBezTo>
                  <a:pt x="37479" y="15871"/>
                  <a:pt x="31460" y="1992"/>
                  <a:pt x="25604" y="248"/>
                </a:cubicBezTo>
                <a:cubicBezTo>
                  <a:pt x="25029" y="77"/>
                  <a:pt x="24332" y="0"/>
                  <a:pt x="23543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  <a:alpha val="25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Google Shape;28;p3">
            <a:extLst>
              <a:ext uri="{FF2B5EF4-FFF2-40B4-BE49-F238E27FC236}">
                <a16:creationId xmlns:a16="http://schemas.microsoft.com/office/drawing/2014/main" id="{9F9DA8D6-05BC-44F6-9B48-DF2A96D2D5A4}"/>
              </a:ext>
            </a:extLst>
          </p:cNvPr>
          <p:cNvSpPr/>
          <p:nvPr userDrawn="1"/>
        </p:nvSpPr>
        <p:spPr>
          <a:xfrm>
            <a:off x="548048" y="4961570"/>
            <a:ext cx="672117" cy="512980"/>
          </a:xfrm>
          <a:custGeom>
            <a:avLst/>
            <a:gdLst>
              <a:gd name="connsiteX0" fmla="*/ 23944 w 36088"/>
              <a:gd name="connsiteY0" fmla="*/ 0 h 29796"/>
              <a:gd name="connsiteX1" fmla="*/ 1490 w 36088"/>
              <a:gd name="connsiteY1" fmla="*/ 6817 h 29796"/>
              <a:gd name="connsiteX2" fmla="*/ 5114 w 36088"/>
              <a:gd name="connsiteY2" fmla="*/ 25300 h 29796"/>
              <a:gd name="connsiteX3" fmla="*/ 8553 w 36088"/>
              <a:gd name="connsiteY3" fmla="*/ 29631 h 29796"/>
              <a:gd name="connsiteX4" fmla="*/ 35590 w 36088"/>
              <a:gd name="connsiteY4" fmla="*/ 18845 h 29796"/>
              <a:gd name="connsiteX5" fmla="*/ 26005 w 36088"/>
              <a:gd name="connsiteY5" fmla="*/ 248 h 29796"/>
              <a:gd name="connsiteX6" fmla="*/ 23944 w 36088"/>
              <a:gd name="connsiteY6" fmla="*/ 0 h 29796"/>
              <a:gd name="connsiteX0" fmla="*/ 23543 w 35687"/>
              <a:gd name="connsiteY0" fmla="*/ 0 h 27237"/>
              <a:gd name="connsiteX1" fmla="*/ 1089 w 35687"/>
              <a:gd name="connsiteY1" fmla="*/ 6817 h 27237"/>
              <a:gd name="connsiteX2" fmla="*/ 4713 w 35687"/>
              <a:gd name="connsiteY2" fmla="*/ 25300 h 27237"/>
              <a:gd name="connsiteX3" fmla="*/ 15182 w 35687"/>
              <a:gd name="connsiteY3" fmla="*/ 25949 h 27237"/>
              <a:gd name="connsiteX4" fmla="*/ 35189 w 35687"/>
              <a:gd name="connsiteY4" fmla="*/ 18845 h 27237"/>
              <a:gd name="connsiteX5" fmla="*/ 25604 w 35687"/>
              <a:gd name="connsiteY5" fmla="*/ 248 h 27237"/>
              <a:gd name="connsiteX6" fmla="*/ 23543 w 35687"/>
              <a:gd name="connsiteY6" fmla="*/ 0 h 27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687" h="27237" extrusionOk="0">
                <a:moveTo>
                  <a:pt x="23543" y="0"/>
                </a:moveTo>
                <a:cubicBezTo>
                  <a:pt x="16287" y="0"/>
                  <a:pt x="4227" y="2600"/>
                  <a:pt x="1089" y="6817"/>
                </a:cubicBezTo>
                <a:cubicBezTo>
                  <a:pt x="-2049" y="11034"/>
                  <a:pt x="2364" y="22111"/>
                  <a:pt x="4713" y="25300"/>
                </a:cubicBezTo>
                <a:cubicBezTo>
                  <a:pt x="7062" y="28489"/>
                  <a:pt x="10103" y="27025"/>
                  <a:pt x="15182" y="25949"/>
                </a:cubicBezTo>
                <a:cubicBezTo>
                  <a:pt x="20261" y="24873"/>
                  <a:pt x="33306" y="21287"/>
                  <a:pt x="35189" y="18845"/>
                </a:cubicBezTo>
                <a:cubicBezTo>
                  <a:pt x="37479" y="15871"/>
                  <a:pt x="31460" y="1992"/>
                  <a:pt x="25604" y="248"/>
                </a:cubicBezTo>
                <a:cubicBezTo>
                  <a:pt x="25029" y="77"/>
                  <a:pt x="24332" y="0"/>
                  <a:pt x="23543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  <a:alpha val="25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92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>
                <a:solidFill>
                  <a:schemeClr val="bg2">
                    <a:lumMod val="50000"/>
                  </a:schemeClr>
                </a:solidFill>
              </a:defRPr>
            </a:lvl2pPr>
            <a:lvl3pPr>
              <a:defRPr>
                <a:solidFill>
                  <a:schemeClr val="bg2">
                    <a:lumMod val="50000"/>
                  </a:schemeClr>
                </a:solidFill>
              </a:defRPr>
            </a:lvl3pPr>
            <a:lvl4pPr>
              <a:defRPr>
                <a:solidFill>
                  <a:schemeClr val="bg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2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Google Shape;20;p3">
            <a:extLst>
              <a:ext uri="{FF2B5EF4-FFF2-40B4-BE49-F238E27FC236}">
                <a16:creationId xmlns:a16="http://schemas.microsoft.com/office/drawing/2014/main" id="{AD30BB36-1D6F-482F-B8DE-C6992517755C}"/>
              </a:ext>
            </a:extLst>
          </p:cNvPr>
          <p:cNvSpPr/>
          <p:nvPr userDrawn="1"/>
        </p:nvSpPr>
        <p:spPr>
          <a:xfrm rot="-10285629">
            <a:off x="9404695" y="-1198950"/>
            <a:ext cx="8382351" cy="4853662"/>
          </a:xfrm>
          <a:custGeom>
            <a:avLst/>
            <a:gdLst>
              <a:gd name="connsiteX0" fmla="*/ 54690 w 86030"/>
              <a:gd name="connsiteY0" fmla="*/ 0 h 53452"/>
              <a:gd name="connsiteX1" fmla="*/ 43799 w 86030"/>
              <a:gd name="connsiteY1" fmla="*/ 3304 h 53452"/>
              <a:gd name="connsiteX2" fmla="*/ 23250 w 86030"/>
              <a:gd name="connsiteY2" fmla="*/ 23749 h 53452"/>
              <a:gd name="connsiteX3" fmla="*/ 15443 w 86030"/>
              <a:gd name="connsiteY3" fmla="*/ 30454 h 53452"/>
              <a:gd name="connsiteX4" fmla="*/ 14517 w 86030"/>
              <a:gd name="connsiteY4" fmla="*/ 30419 h 53452"/>
              <a:gd name="connsiteX5" fmla="*/ 11428 w 86030"/>
              <a:gd name="connsiteY5" fmla="*/ 30302 h 53452"/>
              <a:gd name="connsiteX6" fmla="*/ 39 w 86030"/>
              <a:gd name="connsiteY6" fmla="*/ 33998 h 53452"/>
              <a:gd name="connsiteX7" fmla="*/ 10831 w 86030"/>
              <a:gd name="connsiteY7" fmla="*/ 45925 h 53452"/>
              <a:gd name="connsiteX8" fmla="*/ 30398 w 86030"/>
              <a:gd name="connsiteY8" fmla="*/ 53452 h 53452"/>
              <a:gd name="connsiteX9" fmla="*/ 34419 w 86030"/>
              <a:gd name="connsiteY9" fmla="*/ 52813 h 53452"/>
              <a:gd name="connsiteX10" fmla="*/ 85987 w 86030"/>
              <a:gd name="connsiteY10" fmla="*/ 38009 h 53452"/>
              <a:gd name="connsiteX11" fmla="*/ 58717 w 86030"/>
              <a:gd name="connsiteY11" fmla="*/ 17877 h 53452"/>
              <a:gd name="connsiteX12" fmla="*/ 54690 w 86030"/>
              <a:gd name="connsiteY12" fmla="*/ 0 h 53452"/>
              <a:gd name="connsiteX0" fmla="*/ 31604 w 86049"/>
              <a:gd name="connsiteY0" fmla="*/ 13249 h 50221"/>
              <a:gd name="connsiteX1" fmla="*/ 43799 w 86049"/>
              <a:gd name="connsiteY1" fmla="*/ 73 h 50221"/>
              <a:gd name="connsiteX2" fmla="*/ 23250 w 86049"/>
              <a:gd name="connsiteY2" fmla="*/ 20518 h 50221"/>
              <a:gd name="connsiteX3" fmla="*/ 15443 w 86049"/>
              <a:gd name="connsiteY3" fmla="*/ 27223 h 50221"/>
              <a:gd name="connsiteX4" fmla="*/ 14517 w 86049"/>
              <a:gd name="connsiteY4" fmla="*/ 27188 h 50221"/>
              <a:gd name="connsiteX5" fmla="*/ 11428 w 86049"/>
              <a:gd name="connsiteY5" fmla="*/ 27071 h 50221"/>
              <a:gd name="connsiteX6" fmla="*/ 39 w 86049"/>
              <a:gd name="connsiteY6" fmla="*/ 30767 h 50221"/>
              <a:gd name="connsiteX7" fmla="*/ 10831 w 86049"/>
              <a:gd name="connsiteY7" fmla="*/ 42694 h 50221"/>
              <a:gd name="connsiteX8" fmla="*/ 30398 w 86049"/>
              <a:gd name="connsiteY8" fmla="*/ 50221 h 50221"/>
              <a:gd name="connsiteX9" fmla="*/ 34419 w 86049"/>
              <a:gd name="connsiteY9" fmla="*/ 49582 h 50221"/>
              <a:gd name="connsiteX10" fmla="*/ 85987 w 86049"/>
              <a:gd name="connsiteY10" fmla="*/ 34778 h 50221"/>
              <a:gd name="connsiteX11" fmla="*/ 58717 w 86049"/>
              <a:gd name="connsiteY11" fmla="*/ 14646 h 50221"/>
              <a:gd name="connsiteX12" fmla="*/ 31604 w 86049"/>
              <a:gd name="connsiteY12" fmla="*/ 13249 h 50221"/>
              <a:gd name="connsiteX0" fmla="*/ 31604 w 86049"/>
              <a:gd name="connsiteY0" fmla="*/ 663 h 37635"/>
              <a:gd name="connsiteX1" fmla="*/ 28313 w 86049"/>
              <a:gd name="connsiteY1" fmla="*/ 5107 h 37635"/>
              <a:gd name="connsiteX2" fmla="*/ 23250 w 86049"/>
              <a:gd name="connsiteY2" fmla="*/ 7932 h 37635"/>
              <a:gd name="connsiteX3" fmla="*/ 15443 w 86049"/>
              <a:gd name="connsiteY3" fmla="*/ 14637 h 37635"/>
              <a:gd name="connsiteX4" fmla="*/ 14517 w 86049"/>
              <a:gd name="connsiteY4" fmla="*/ 14602 h 37635"/>
              <a:gd name="connsiteX5" fmla="*/ 11428 w 86049"/>
              <a:gd name="connsiteY5" fmla="*/ 14485 h 37635"/>
              <a:gd name="connsiteX6" fmla="*/ 39 w 86049"/>
              <a:gd name="connsiteY6" fmla="*/ 18181 h 37635"/>
              <a:gd name="connsiteX7" fmla="*/ 10831 w 86049"/>
              <a:gd name="connsiteY7" fmla="*/ 30108 h 37635"/>
              <a:gd name="connsiteX8" fmla="*/ 30398 w 86049"/>
              <a:gd name="connsiteY8" fmla="*/ 37635 h 37635"/>
              <a:gd name="connsiteX9" fmla="*/ 34419 w 86049"/>
              <a:gd name="connsiteY9" fmla="*/ 36996 h 37635"/>
              <a:gd name="connsiteX10" fmla="*/ 85987 w 86049"/>
              <a:gd name="connsiteY10" fmla="*/ 22192 h 37635"/>
              <a:gd name="connsiteX11" fmla="*/ 58717 w 86049"/>
              <a:gd name="connsiteY11" fmla="*/ 2060 h 37635"/>
              <a:gd name="connsiteX12" fmla="*/ 31604 w 86049"/>
              <a:gd name="connsiteY12" fmla="*/ 663 h 37635"/>
              <a:gd name="connsiteX0" fmla="*/ 31604 w 77695"/>
              <a:gd name="connsiteY0" fmla="*/ 1620 h 44988"/>
              <a:gd name="connsiteX1" fmla="*/ 28313 w 77695"/>
              <a:gd name="connsiteY1" fmla="*/ 6064 h 44988"/>
              <a:gd name="connsiteX2" fmla="*/ 23250 w 77695"/>
              <a:gd name="connsiteY2" fmla="*/ 8889 h 44988"/>
              <a:gd name="connsiteX3" fmla="*/ 15443 w 77695"/>
              <a:gd name="connsiteY3" fmla="*/ 15594 h 44988"/>
              <a:gd name="connsiteX4" fmla="*/ 14517 w 77695"/>
              <a:gd name="connsiteY4" fmla="*/ 15559 h 44988"/>
              <a:gd name="connsiteX5" fmla="*/ 11428 w 77695"/>
              <a:gd name="connsiteY5" fmla="*/ 15442 h 44988"/>
              <a:gd name="connsiteX6" fmla="*/ 39 w 77695"/>
              <a:gd name="connsiteY6" fmla="*/ 19138 h 44988"/>
              <a:gd name="connsiteX7" fmla="*/ 10831 w 77695"/>
              <a:gd name="connsiteY7" fmla="*/ 31065 h 44988"/>
              <a:gd name="connsiteX8" fmla="*/ 30398 w 77695"/>
              <a:gd name="connsiteY8" fmla="*/ 38592 h 44988"/>
              <a:gd name="connsiteX9" fmla="*/ 34419 w 77695"/>
              <a:gd name="connsiteY9" fmla="*/ 37953 h 44988"/>
              <a:gd name="connsiteX10" fmla="*/ 77601 w 77695"/>
              <a:gd name="connsiteY10" fmla="*/ 36699 h 44988"/>
              <a:gd name="connsiteX11" fmla="*/ 58717 w 77695"/>
              <a:gd name="connsiteY11" fmla="*/ 3017 h 44988"/>
              <a:gd name="connsiteX12" fmla="*/ 31604 w 77695"/>
              <a:gd name="connsiteY12" fmla="*/ 1620 h 44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7695" h="44988" extrusionOk="0">
                <a:moveTo>
                  <a:pt x="31604" y="1620"/>
                </a:moveTo>
                <a:cubicBezTo>
                  <a:pt x="28122" y="1620"/>
                  <a:pt x="29705" y="4853"/>
                  <a:pt x="28313" y="6064"/>
                </a:cubicBezTo>
                <a:cubicBezTo>
                  <a:pt x="26921" y="7276"/>
                  <a:pt x="25395" y="7301"/>
                  <a:pt x="23250" y="8889"/>
                </a:cubicBezTo>
                <a:cubicBezTo>
                  <a:pt x="21105" y="10477"/>
                  <a:pt x="22697" y="15594"/>
                  <a:pt x="15443" y="15594"/>
                </a:cubicBezTo>
                <a:cubicBezTo>
                  <a:pt x="15146" y="15594"/>
                  <a:pt x="14837" y="15582"/>
                  <a:pt x="14517" y="15559"/>
                </a:cubicBezTo>
                <a:cubicBezTo>
                  <a:pt x="13445" y="15480"/>
                  <a:pt x="12413" y="15442"/>
                  <a:pt x="11428" y="15442"/>
                </a:cubicBezTo>
                <a:cubicBezTo>
                  <a:pt x="4945" y="15442"/>
                  <a:pt x="511" y="17065"/>
                  <a:pt x="39" y="19138"/>
                </a:cubicBezTo>
                <a:cubicBezTo>
                  <a:pt x="-501" y="21523"/>
                  <a:pt x="4649" y="28355"/>
                  <a:pt x="10831" y="31065"/>
                </a:cubicBezTo>
                <a:cubicBezTo>
                  <a:pt x="16017" y="33341"/>
                  <a:pt x="23339" y="38592"/>
                  <a:pt x="30398" y="38592"/>
                </a:cubicBezTo>
                <a:cubicBezTo>
                  <a:pt x="31754" y="38592"/>
                  <a:pt x="26552" y="38268"/>
                  <a:pt x="34419" y="37953"/>
                </a:cubicBezTo>
                <a:cubicBezTo>
                  <a:pt x="42286" y="37638"/>
                  <a:pt x="76300" y="54756"/>
                  <a:pt x="77601" y="36699"/>
                </a:cubicBezTo>
                <a:cubicBezTo>
                  <a:pt x="78903" y="18642"/>
                  <a:pt x="66383" y="8864"/>
                  <a:pt x="58717" y="3017"/>
                </a:cubicBezTo>
                <a:cubicBezTo>
                  <a:pt x="51051" y="-2830"/>
                  <a:pt x="43407" y="1620"/>
                  <a:pt x="31604" y="162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63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50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AFC2F1-B382-4B54-9A9F-910235201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8882E1-F531-4863-8725-4DFFB1D93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542041-3F17-4A54-9CFD-5CC89C888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3D8362-ABA0-448B-9472-8CE304126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12121C-8D9C-473B-9CAA-041E14CE3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0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FD5AC9-D947-4E91-8E54-564E619C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BC3E08-A33C-41B0-9FF8-A48D661D3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63770-7BF6-4230-8BC5-AB14818DC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4B284D-4A4E-43FE-BC90-E29166BB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419C2-0DDE-45ED-A6BB-A7CF0C6F9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8D6DE2-C0F1-4631-8D1B-61DD10E73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01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1CD0-71F9-4ED3-890F-20F3C621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FEAC71-3741-4F27-877E-AC8E2B1CC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0C1B9D-7DA5-4D32-81AA-D58CAF37C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445751E-43C2-4B2E-91C9-868F84D3E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06CFF53-F322-41AA-9E85-224959B71B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24C7FE-288B-4A4F-A747-871045CD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53F8A51-9E24-4CD8-9A95-89D90C66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29EE09-F27C-4D57-8664-E5E7CB804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29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EF0AC8-9D6A-48CD-9E4D-7A12D1C8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73AF8AA-A3DF-45CE-90B8-A257BB2E7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DF56705-7C94-4DCD-BF06-8BF6906E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F7DF18-617E-48F0-9074-B7506BDF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6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99FCD3-56A4-4284-81DF-E3E50BDC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6047691-5406-41FC-B8DB-B022027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7AEBC5-6561-4B36-B570-38605695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354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0F69B2-4FAE-42A4-BBC5-8BF096DE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CD1947-0CD2-42BD-BFD1-5C4416618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0CDABD2-BF7A-4C8F-8B16-EA52A5F14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72B473-E977-441B-A8EB-3301D765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7E1CEE-3915-4259-A6A7-D1B01B396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EB3D31-7ACD-4C98-9D8E-2BDDE7B0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233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405F6B-C902-4B3E-9912-C6E442B65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7BC53AF-8425-4939-91AE-F683272D0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02FBB3-E12C-46E0-9C0A-AECE9178D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6AFC505-F1A6-46C8-AAC8-934BC95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0E9474-4172-432C-832B-FEC719D77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F9343C-F37B-47D0-875B-2AF37732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47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3A611-4217-496F-A970-40D336B5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99D7E-740A-449C-B04F-6390E5DB2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607AD3-B579-44BB-B354-6F0449D5A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BF37B6-1BF7-43A4-81B9-1EFFAFF2C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6BAB7-98C3-43DF-A563-53F5C2CD6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377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57C772B-141C-4727-B105-B525D7504E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AF9FFA-49AD-4472-B85D-6ACC9C4B2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AE0885-5569-4FF3-8865-96B5AEB0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21D7BD-2437-400A-B0D7-8AFEDE15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05A581-BC3B-448C-8E3E-BD317415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40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E9284-BDA4-45F8-A54F-94F6151AA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D6D37-E80C-4087-8866-D624C739E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A1800B-2E1A-4303-9892-AB08F80EA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t>23.02.2026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BC04A6-2998-40EB-BF13-94B54C7AD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E2691-9DFE-40D1-8BB1-8DFF491DA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6"/>
            <a:extLst>
              <a:ext uri="{FF2B5EF4-FFF2-40B4-BE49-F238E27FC236}">
                <a16:creationId xmlns:a16="http://schemas.microsoft.com/office/drawing/2014/main" id="{1847D26E-390E-4229-B0D7-62066CD41BE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2808" y="-639945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161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61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714C99-7919-492A-902F-F998BFE749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9158" y="2062162"/>
            <a:ext cx="9873006" cy="2387600"/>
          </a:xfrm>
        </p:spPr>
        <p:txBody>
          <a:bodyPr>
            <a:normAutofit fontScale="90000"/>
          </a:bodyPr>
          <a:lstStyle/>
          <a:p>
            <a:r>
              <a:rPr lang="en-US" sz="11500" dirty="0">
                <a:latin typeface="Garamond" panose="02020404030301010803" pitchFamily="18" charset="0"/>
              </a:rPr>
              <a:t>Entity Framework</a:t>
            </a:r>
            <a:endParaRPr lang="ru-RU" sz="11500" dirty="0">
              <a:latin typeface="Garamond" panose="02020404030301010803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E4573D8-B18B-4351-8D21-9BF0CE49F9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4119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1FDBF-50A2-4607-970A-71452911E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BF7875-ECAE-4A13-B63E-AC5D4C7AD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ADO</a:t>
            </a:r>
            <a:r>
              <a:rPr lang="ru-RU" sz="3600" b="1" dirty="0"/>
              <a:t>.</a:t>
            </a:r>
            <a:r>
              <a:rPr lang="en-US" sz="3600" b="1" dirty="0"/>
              <a:t>NET </a:t>
            </a:r>
            <a:r>
              <a:rPr lang="ru-RU" sz="3600" dirty="0"/>
              <a:t>— это набор классов, встроенных прямо в .</a:t>
            </a:r>
            <a:r>
              <a:rPr lang="en-US" sz="3600" dirty="0"/>
              <a:t>NET Framework</a:t>
            </a:r>
            <a:r>
              <a:rPr lang="ru-RU" sz="3600" dirty="0"/>
              <a:t> и .</a:t>
            </a:r>
            <a:r>
              <a:rPr lang="en-US" sz="3600" dirty="0"/>
              <a:t>NET Core</a:t>
            </a:r>
            <a:r>
              <a:rPr lang="ru-RU" sz="3600" dirty="0"/>
              <a:t>, которая позволяет программе на </a:t>
            </a:r>
            <a:r>
              <a:rPr lang="en-US" sz="3600" dirty="0"/>
              <a:t>C</a:t>
            </a:r>
            <a:r>
              <a:rPr lang="ru-RU" sz="3600" dirty="0"/>
              <a:t># взаимодействовать с базой данных.</a:t>
            </a:r>
          </a:p>
        </p:txBody>
      </p:sp>
    </p:spTree>
    <p:extLst>
      <p:ext uri="{BB962C8B-B14F-4D97-AF65-F5344CB8AC3E}">
        <p14:creationId xmlns:p14="http://schemas.microsoft.com/office/powerpoint/2010/main" val="1156966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D41E45-F00F-4272-A684-8F783FA96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MySQL.Data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08CCAC-90DE-4730-8AE8-84839E2B8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dirty="0" err="1"/>
              <a:t>MySql.Data</a:t>
            </a:r>
            <a:r>
              <a:rPr lang="ru-RU" sz="4000" dirty="0"/>
              <a:t> — это официальный ADO.NET  - драйвер для подключения приложений на платформе .NET к базе данных </a:t>
            </a:r>
            <a:r>
              <a:rPr lang="ru-RU" sz="4000" dirty="0" err="1"/>
              <a:t>MySQL</a:t>
            </a:r>
            <a:r>
              <a:rPr lang="ru-RU" sz="4000" dirty="0"/>
              <a:t>, разрабатываемый непосредственно корпорацией </a:t>
            </a:r>
            <a:r>
              <a:rPr lang="ru-RU" sz="4000" dirty="0" err="1"/>
              <a:t>Oracle</a:t>
            </a:r>
            <a:r>
              <a:rPr lang="ru-RU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91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D41E45-F00F-4272-A684-8F783FA96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MySQL.Data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1995BCCC-B9DC-4FC7-B8F2-9954F324A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9DC6E6-5742-48B0-977C-464205F21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49" y="564348"/>
            <a:ext cx="10989190" cy="572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008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>
            <a:extLst>
              <a:ext uri="{FF2B5EF4-FFF2-40B4-BE49-F238E27FC236}">
                <a16:creationId xmlns:a16="http://schemas.microsoft.com/office/drawing/2014/main" id="{1995BCCC-B9DC-4FC7-B8F2-9954F324A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FE3479C-879B-4905-A279-FCD9823A73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3058"/>
          <a:stretch/>
        </p:blipFill>
        <p:spPr>
          <a:xfrm>
            <a:off x="1446007" y="182562"/>
            <a:ext cx="8782336" cy="6492875"/>
          </a:xfrm>
          <a:prstGeom prst="rect">
            <a:avLst/>
          </a:prstGeo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348AA41-269B-4FF1-9C34-434EBCAC7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3224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D05AD-7622-41A5-8E0E-0363D37B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Понятие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7B0CF5-C2E7-4E01-A71D-07C9DEAF9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Entity Framework (EF) — </a:t>
            </a:r>
            <a:r>
              <a:rPr lang="ru-RU" dirty="0"/>
              <a:t>это </a:t>
            </a:r>
            <a:r>
              <a:rPr lang="ru-RU" dirty="0" err="1"/>
              <a:t>объектно</a:t>
            </a:r>
            <a:r>
              <a:rPr lang="en-US" dirty="0"/>
              <a:t>-</a:t>
            </a:r>
            <a:r>
              <a:rPr lang="ru-RU" dirty="0"/>
              <a:t>ориентированная технология доступа к данным</a:t>
            </a:r>
            <a:r>
              <a:rPr lang="en-US" dirty="0"/>
              <a:t> (ORM, Object-Relational Mapping), </a:t>
            </a:r>
            <a:r>
              <a:rPr lang="ru-RU" dirty="0"/>
              <a:t>разработанная</a:t>
            </a:r>
            <a:r>
              <a:rPr lang="en-US" dirty="0"/>
              <a:t> Microsoft. </a:t>
            </a:r>
            <a:r>
              <a:rPr lang="ru-RU" dirty="0"/>
              <a:t>Она позволяет разработчикам работать с базами данных, используя объекты и классы C#, вместо написания SQL-запросов вручную.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348906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D05AD-7622-41A5-8E0E-0363D37B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Понятие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7B0CF5-C2E7-4E01-A71D-07C9DEAF9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EF</a:t>
            </a:r>
            <a:r>
              <a:rPr lang="ru-RU" sz="3600" dirty="0"/>
              <a:t> позволяет:</a:t>
            </a:r>
          </a:p>
          <a:p>
            <a:pPr lvl="0"/>
            <a:r>
              <a:rPr lang="ru-RU" sz="3600" dirty="0"/>
              <a:t>Описывать структуру таблиц как </a:t>
            </a:r>
            <a:r>
              <a:rPr lang="en-US" sz="3600" dirty="0"/>
              <a:t>C</a:t>
            </a:r>
            <a:r>
              <a:rPr lang="ru-RU" sz="3600" dirty="0"/>
              <a:t>#-классы;</a:t>
            </a:r>
          </a:p>
          <a:p>
            <a:pPr lvl="0"/>
            <a:r>
              <a:rPr lang="ru-RU" sz="3600" dirty="0"/>
              <a:t>Выполнять запросы к БД через </a:t>
            </a:r>
            <a:r>
              <a:rPr lang="en-US" sz="3600" dirty="0"/>
              <a:t>LINQ</a:t>
            </a:r>
            <a:r>
              <a:rPr lang="ru-RU" sz="3600" dirty="0"/>
              <a:t>;</a:t>
            </a:r>
          </a:p>
          <a:p>
            <a:r>
              <a:rPr lang="ru-RU" sz="3600" dirty="0"/>
              <a:t>Автоматически создавать и обновлять схему базы данных.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404741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D05AD-7622-41A5-8E0E-0363D37B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Понятие </a:t>
            </a:r>
            <a:r>
              <a:rPr lang="en-US" b="1" dirty="0"/>
              <a:t>EF</a:t>
            </a:r>
            <a:endParaRPr lang="ru-RU" b="1" dirty="0"/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DF942408-DEA1-400B-AD8D-1E73BEABE2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4856676"/>
              </p:ext>
            </p:extLst>
          </p:nvPr>
        </p:nvGraphicFramePr>
        <p:xfrm>
          <a:off x="1545997" y="2375555"/>
          <a:ext cx="8648258" cy="2572860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4323666">
                  <a:extLst>
                    <a:ext uri="{9D8B030D-6E8A-4147-A177-3AD203B41FA5}">
                      <a16:colId xmlns:a16="http://schemas.microsoft.com/office/drawing/2014/main" val="3322168688"/>
                    </a:ext>
                  </a:extLst>
                </a:gridCol>
                <a:gridCol w="4324592">
                  <a:extLst>
                    <a:ext uri="{9D8B030D-6E8A-4147-A177-3AD203B41FA5}">
                      <a16:colId xmlns:a16="http://schemas.microsoft.com/office/drawing/2014/main" val="4152741284"/>
                    </a:ext>
                  </a:extLst>
                </a:gridCol>
              </a:tblGrid>
              <a:tr h="64321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en-US" sz="2400" dirty="0">
                          <a:effectLst/>
                        </a:rPr>
                        <a:t>SQL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en-US" sz="2400">
                          <a:effectLst/>
                        </a:rPr>
                        <a:t>C#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08156483"/>
                  </a:ext>
                </a:extLst>
              </a:tr>
              <a:tr h="64321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 dirty="0">
                          <a:effectLst/>
                        </a:rPr>
                        <a:t>Таблица </a:t>
                      </a:r>
                      <a:r>
                        <a:rPr lang="en-US" sz="2400" dirty="0">
                          <a:effectLst/>
                        </a:rPr>
                        <a:t>Users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 dirty="0">
                          <a:effectLst/>
                        </a:rPr>
                        <a:t>Класс </a:t>
                      </a:r>
                      <a:r>
                        <a:rPr lang="en-US" sz="2400" dirty="0">
                          <a:effectLst/>
                        </a:rPr>
                        <a:t>Users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77912274"/>
                  </a:ext>
                </a:extLst>
              </a:tr>
              <a:tr h="64321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>
                          <a:effectLst/>
                        </a:rPr>
                        <a:t>Поле </a:t>
                      </a:r>
                      <a:r>
                        <a:rPr lang="en-US" sz="2400">
                          <a:effectLst/>
                        </a:rPr>
                        <a:t>Name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 dirty="0">
                          <a:effectLst/>
                        </a:rPr>
                        <a:t>Свойство </a:t>
                      </a:r>
                      <a:r>
                        <a:rPr lang="en-US" sz="2400" dirty="0">
                          <a:effectLst/>
                        </a:rPr>
                        <a:t>Name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61304657"/>
                  </a:ext>
                </a:extLst>
              </a:tr>
              <a:tr h="64321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>
                          <a:effectLst/>
                        </a:rPr>
                        <a:t>Строка в таблице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  <a:tabLst>
                          <a:tab pos="90170" algn="l"/>
                        </a:tabLst>
                      </a:pPr>
                      <a:r>
                        <a:rPr lang="ru-RU" sz="2400" dirty="0">
                          <a:effectLst/>
                        </a:rPr>
                        <a:t>Объект класса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18986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417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 err="1"/>
              <a:t>DbContext</a:t>
            </a:r>
            <a:endParaRPr lang="ru-RU" b="1" dirty="0"/>
          </a:p>
          <a:p>
            <a:pPr marL="0" lvl="0" indent="0">
              <a:buNone/>
            </a:pPr>
            <a:endParaRPr lang="ru-RU" b="1" dirty="0"/>
          </a:p>
          <a:p>
            <a:pPr marL="0" lvl="0" indent="0">
              <a:buNone/>
            </a:pPr>
            <a:r>
              <a:rPr lang="ru-RU" dirty="0"/>
              <a:t>Контекст подключения к БД и управления сущностями</a:t>
            </a:r>
          </a:p>
        </p:txBody>
      </p:sp>
    </p:spTree>
    <p:extLst>
      <p:ext uri="{BB962C8B-B14F-4D97-AF65-F5344CB8AC3E}">
        <p14:creationId xmlns:p14="http://schemas.microsoft.com/office/powerpoint/2010/main" val="1336738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5">
            <a:extLst>
              <a:ext uri="{FF2B5EF4-FFF2-40B4-BE49-F238E27FC236}">
                <a16:creationId xmlns:a16="http://schemas.microsoft.com/office/drawing/2014/main" id="{C2CDB04B-FB64-4BDD-B33A-DD15C2F2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3F47BDA-9EFF-4CE7-BB41-C7E635126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F7F2CF5-38D9-4F8D-AE9A-FB7F09232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442" y="927672"/>
            <a:ext cx="12358883" cy="459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566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 err="1"/>
              <a:t>DbContext</a:t>
            </a:r>
            <a:endParaRPr lang="ru-RU" b="1" dirty="0"/>
          </a:p>
          <a:p>
            <a:pPr marL="0" indent="0">
              <a:buNone/>
            </a:pPr>
            <a:r>
              <a:rPr lang="ru-RU" b="1" dirty="0"/>
              <a:t>Использование в программе</a:t>
            </a:r>
            <a:r>
              <a:rPr lang="en-US" b="1" dirty="0"/>
              <a:t>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sz="4000" dirty="0"/>
              <a:t>using var </a:t>
            </a:r>
            <a:r>
              <a:rPr lang="en-US" sz="4000" dirty="0" err="1"/>
              <a:t>db</a:t>
            </a:r>
            <a:r>
              <a:rPr lang="en-US" sz="4000" dirty="0"/>
              <a:t> = new </a:t>
            </a:r>
            <a:r>
              <a:rPr lang="en-US" sz="4000" dirty="0" err="1"/>
              <a:t>ApplicationDBContext</a:t>
            </a:r>
            <a:r>
              <a:rPr lang="en-US" sz="4000" dirty="0"/>
              <a:t>();</a:t>
            </a:r>
            <a:endParaRPr lang="ru-RU" sz="4000" dirty="0"/>
          </a:p>
          <a:p>
            <a:pPr marL="0" indent="0">
              <a:buNone/>
            </a:pPr>
            <a:r>
              <a:rPr lang="en-US" sz="4000" dirty="0"/>
              <a:t>var patients = </a:t>
            </a:r>
            <a:r>
              <a:rPr lang="en-US" sz="4000" dirty="0" err="1"/>
              <a:t>db.Patients.ToList</a:t>
            </a:r>
            <a:r>
              <a:rPr lang="en-US" sz="4000" dirty="0"/>
              <a:t>();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767459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 err="1"/>
              <a:t>DbSet</a:t>
            </a:r>
            <a:r>
              <a:rPr lang="en-US" b="1" dirty="0"/>
              <a:t>&lt;T&gt;</a:t>
            </a:r>
            <a:endParaRPr lang="ru-RU" dirty="0"/>
          </a:p>
          <a:p>
            <a:pPr marL="0" lvl="0" indent="0">
              <a:buNone/>
            </a:pPr>
            <a:endParaRPr lang="ru-RU" b="1" dirty="0"/>
          </a:p>
          <a:p>
            <a:pPr marL="0" indent="0">
              <a:buNone/>
            </a:pP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таблицу</a:t>
            </a:r>
            <a:r>
              <a:rPr lang="en-US" dirty="0"/>
              <a:t> (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сущностей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2892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 err="1"/>
              <a:t>DbSet</a:t>
            </a:r>
            <a:r>
              <a:rPr lang="en-US" b="1" dirty="0"/>
              <a:t>&lt;T&gt;</a:t>
            </a:r>
            <a:endParaRPr lang="ru-RU" dirty="0"/>
          </a:p>
          <a:p>
            <a:pPr marL="0" lvl="0" indent="0">
              <a:buNone/>
            </a:pPr>
            <a:endParaRPr lang="ru-RU" b="1" dirty="0"/>
          </a:p>
          <a:p>
            <a:pPr marL="0" indent="0">
              <a:buNone/>
            </a:pP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таблицу</a:t>
            </a:r>
            <a:r>
              <a:rPr lang="en-US" dirty="0"/>
              <a:t> (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сущностей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public virtual </a:t>
            </a:r>
            <a:r>
              <a:rPr lang="en-US" b="1" dirty="0" err="1"/>
              <a:t>DbSet</a:t>
            </a:r>
            <a:r>
              <a:rPr lang="en-US" b="1" dirty="0"/>
              <a:t>&lt;Track&gt; Tracks { get; set; }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558701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b="1" dirty="0"/>
              <a:t>Сущности (</a:t>
            </a:r>
            <a:r>
              <a:rPr lang="en-US" b="1" dirty="0"/>
              <a:t>Entities</a:t>
            </a:r>
            <a:r>
              <a:rPr lang="ru-RU" b="1" dirty="0"/>
              <a:t>)</a:t>
            </a:r>
            <a:endParaRPr lang="ru-RU" dirty="0"/>
          </a:p>
          <a:p>
            <a:pPr marL="0" lvl="0" indent="0">
              <a:buNone/>
            </a:pPr>
            <a:endParaRPr lang="ru-RU" b="1" dirty="0"/>
          </a:p>
          <a:p>
            <a:pPr marL="0" indent="0">
              <a:buNone/>
            </a:pPr>
            <a:r>
              <a:rPr lang="ru-RU" dirty="0"/>
              <a:t>Описывают таблицы БД через классы C#</a:t>
            </a:r>
          </a:p>
        </p:txBody>
      </p:sp>
    </p:spTree>
    <p:extLst>
      <p:ext uri="{BB962C8B-B14F-4D97-AF65-F5344CB8AC3E}">
        <p14:creationId xmlns:p14="http://schemas.microsoft.com/office/powerpoint/2010/main" val="288635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607EC-B2C8-492B-8897-61408C8B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92733-933A-4414-9628-56E33B3A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b="1" dirty="0"/>
              <a:t>Сущности (</a:t>
            </a:r>
            <a:r>
              <a:rPr lang="en-US" b="1" dirty="0"/>
              <a:t>Entities</a:t>
            </a:r>
            <a:r>
              <a:rPr lang="ru-RU" b="1" dirty="0"/>
              <a:t>)</a:t>
            </a:r>
            <a:endParaRPr lang="ru-RU" dirty="0"/>
          </a:p>
          <a:p>
            <a:pPr marL="0" lvl="0" indent="0">
              <a:buNone/>
            </a:pPr>
            <a:endParaRPr lang="ru-RU" b="1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96EBC1-430B-478C-86CD-09DF57BEB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676" y="1333922"/>
            <a:ext cx="5934903" cy="533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86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F6966A-47D5-4190-9027-02077DB0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Подходы </a:t>
            </a:r>
            <a:r>
              <a:rPr lang="en-US" b="1" dirty="0"/>
              <a:t>EF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08DB4B-E895-4BB0-951E-85583EEB0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Code First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Сначала пишутся классы, </a:t>
            </a:r>
            <a:r>
              <a:rPr lang="en-US" dirty="0"/>
              <a:t>EF</a:t>
            </a:r>
            <a:r>
              <a:rPr lang="ru-RU" dirty="0"/>
              <a:t> создаёт БД</a:t>
            </a:r>
          </a:p>
          <a:p>
            <a:pPr marL="0" indent="0">
              <a:buNone/>
            </a:pPr>
            <a:endParaRPr lang="ru-RU" dirty="0"/>
          </a:p>
          <a:p>
            <a:pPr lvl="0"/>
            <a:r>
              <a:rPr lang="en-US" dirty="0"/>
              <a:t>Database First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Сначала создаётся БД, </a:t>
            </a:r>
            <a:r>
              <a:rPr lang="en-US" dirty="0"/>
              <a:t>EF</a:t>
            </a:r>
            <a:r>
              <a:rPr lang="ru-RU" dirty="0"/>
              <a:t> генерирует классы</a:t>
            </a:r>
          </a:p>
          <a:p>
            <a:pPr marL="0" indent="0">
              <a:buNone/>
            </a:pPr>
            <a:endParaRPr lang="ru-RU" dirty="0"/>
          </a:p>
          <a:p>
            <a:pPr lvl="0"/>
            <a:r>
              <a:rPr lang="en-US" dirty="0"/>
              <a:t>Model First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Используется дизайнер модели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4952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0596F8-0763-41B7-9A58-D29089648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Сначала создаются обычные классы, описывается контекст данных, настраиваются связи. </a:t>
            </a:r>
          </a:p>
          <a:p>
            <a:pPr marL="0" indent="0">
              <a:buNone/>
            </a:pPr>
            <a:r>
              <a:rPr lang="ru-RU" b="1" dirty="0"/>
              <a:t>Базы данных на этом этапе ещё нет. </a:t>
            </a:r>
          </a:p>
          <a:p>
            <a:pPr marL="0" indent="0">
              <a:buNone/>
            </a:pPr>
            <a:r>
              <a:rPr lang="ru-RU" dirty="0" err="1"/>
              <a:t>Entity</a:t>
            </a:r>
            <a:r>
              <a:rPr lang="ru-RU" dirty="0"/>
              <a:t> </a:t>
            </a:r>
            <a:r>
              <a:rPr lang="ru-RU" dirty="0" err="1"/>
              <a:t>Framework</a:t>
            </a:r>
            <a:r>
              <a:rPr lang="ru-RU" dirty="0"/>
              <a:t> на основе созданных классов сам генерирует структуру базы данных — таблицы, ключи, связи, индексы.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Разработчик вообще не пишет SQL, а только работает с объектами.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3342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0596F8-0763-41B7-9A58-D29089648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dirty="0"/>
              <a:t>Для переноса классов в таблицы БД используются </a:t>
            </a:r>
            <a:r>
              <a:rPr lang="ru-RU" sz="4000" b="1" dirty="0"/>
              <a:t>миграции</a:t>
            </a:r>
            <a:r>
              <a:rPr lang="ru-RU" sz="4000" dirty="0"/>
              <a:t> </a:t>
            </a:r>
            <a:r>
              <a:rPr lang="ru-RU" sz="4000" dirty="0">
                <a:sym typeface="Symbol" panose="05050102010706020507" pitchFamily="18" charset="2"/>
              </a:rPr>
              <a:t></a:t>
            </a:r>
            <a:r>
              <a:rPr lang="ru-RU" sz="4000" dirty="0"/>
              <a:t> механизм, который позволяет синхронизировать структуру базы данных с изменяющейся моделью классов.</a:t>
            </a:r>
          </a:p>
        </p:txBody>
      </p:sp>
    </p:spTree>
    <p:extLst>
      <p:ext uri="{BB962C8B-B14F-4D97-AF65-F5344CB8AC3E}">
        <p14:creationId xmlns:p14="http://schemas.microsoft.com/office/powerpoint/2010/main" val="2453544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9CE5BD0-C03B-4D46-AA09-E40E47F9B3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85"/>
          <a:stretch/>
        </p:blipFill>
        <p:spPr>
          <a:xfrm>
            <a:off x="251410" y="1866393"/>
            <a:ext cx="6422767" cy="43513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FDD35EF-DA62-4E7F-B557-76D265ECD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177" y="1866393"/>
            <a:ext cx="5420481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410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4400" dirty="0"/>
              <a:t>public class </a:t>
            </a:r>
            <a:r>
              <a:rPr lang="en-US" sz="4400" dirty="0" err="1"/>
              <a:t>MusicDbContext</a:t>
            </a:r>
            <a:r>
              <a:rPr lang="en-US" sz="4400" dirty="0"/>
              <a:t> : </a:t>
            </a:r>
            <a:r>
              <a:rPr lang="en-US" sz="4400" dirty="0" err="1"/>
              <a:t>DbContext</a:t>
            </a:r>
            <a:endParaRPr lang="ru-RU" sz="4400" dirty="0"/>
          </a:p>
          <a:p>
            <a:pPr marL="0" indent="0">
              <a:buNone/>
            </a:pPr>
            <a:r>
              <a:rPr lang="en-US" sz="4400" dirty="0"/>
              <a:t>{</a:t>
            </a:r>
            <a:endParaRPr lang="ru-RU" sz="4400" dirty="0"/>
          </a:p>
          <a:p>
            <a:pPr marL="0" indent="0">
              <a:buNone/>
            </a:pPr>
            <a:r>
              <a:rPr lang="ru-RU" sz="4400" dirty="0"/>
              <a:t>}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5167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4400" dirty="0"/>
              <a:t>public class </a:t>
            </a:r>
            <a:r>
              <a:rPr lang="en-US" sz="4400" dirty="0" err="1"/>
              <a:t>MusicDbContext</a:t>
            </a:r>
            <a:r>
              <a:rPr lang="en-US" sz="4400" dirty="0"/>
              <a:t> : </a:t>
            </a:r>
            <a:r>
              <a:rPr lang="en-US" sz="4400" dirty="0" err="1"/>
              <a:t>DbContext</a:t>
            </a:r>
            <a:endParaRPr lang="ru-RU" sz="4400" dirty="0"/>
          </a:p>
          <a:p>
            <a:pPr marL="0" indent="0">
              <a:buNone/>
            </a:pPr>
            <a:r>
              <a:rPr lang="en-US" sz="4400" dirty="0"/>
              <a:t>{</a:t>
            </a:r>
          </a:p>
          <a:p>
            <a:pPr marL="0" indent="0">
              <a:buNone/>
            </a:pPr>
            <a:r>
              <a:rPr lang="en-US" sz="4400" dirty="0"/>
              <a:t>public </a:t>
            </a:r>
            <a:r>
              <a:rPr lang="en-US" sz="4400" dirty="0" err="1"/>
              <a:t>DbSet</a:t>
            </a:r>
            <a:r>
              <a:rPr lang="en-US" sz="4400" dirty="0"/>
              <a:t>&lt;Playlist&gt; Playlists { get; set; }</a:t>
            </a:r>
          </a:p>
          <a:p>
            <a:pPr marL="0" indent="0">
              <a:buNone/>
            </a:pPr>
            <a:r>
              <a:rPr lang="en-US" sz="4400" dirty="0"/>
              <a:t>public </a:t>
            </a:r>
            <a:r>
              <a:rPr lang="en-US" sz="4400" dirty="0" err="1"/>
              <a:t>DbSet</a:t>
            </a:r>
            <a:r>
              <a:rPr lang="en-US" sz="4400" dirty="0"/>
              <a:t>&lt;Track&gt; Tracks { get; set; }</a:t>
            </a:r>
          </a:p>
          <a:p>
            <a:pPr marL="0" indent="0">
              <a:buNone/>
            </a:pPr>
            <a:endParaRPr lang="ru-RU" sz="4400" dirty="0"/>
          </a:p>
          <a:p>
            <a:pPr marL="0" indent="0">
              <a:buNone/>
            </a:pPr>
            <a:r>
              <a:rPr lang="ru-RU" sz="4400" dirty="0"/>
              <a:t>}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30276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D11F3B-55E8-408D-AF19-8B94C47F3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07" y="1760658"/>
            <a:ext cx="11521235" cy="166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1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0ADB85-5048-4600-8611-70E2B6D70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14" y="1575718"/>
            <a:ext cx="11937171" cy="30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638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A5A5998-92C7-4A77-A0C5-FEBFF0C8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 err="1"/>
              <a:t>dotnet</a:t>
            </a:r>
            <a:r>
              <a:rPr lang="ru-RU" sz="3600" dirty="0"/>
              <a:t> </a:t>
            </a:r>
            <a:r>
              <a:rPr lang="ru-RU" sz="3600" dirty="0" err="1"/>
              <a:t>ef</a:t>
            </a:r>
            <a:r>
              <a:rPr lang="ru-RU" sz="3600" dirty="0"/>
              <a:t> </a:t>
            </a:r>
            <a:r>
              <a:rPr lang="ru-RU" sz="3600" dirty="0" err="1"/>
              <a:t>migrations</a:t>
            </a:r>
            <a:r>
              <a:rPr lang="ru-RU" sz="3600" dirty="0"/>
              <a:t> </a:t>
            </a:r>
            <a:r>
              <a:rPr lang="ru-RU" sz="3600" dirty="0" err="1"/>
              <a:t>add</a:t>
            </a:r>
            <a:r>
              <a:rPr lang="ru-RU" sz="3600" dirty="0"/>
              <a:t> </a:t>
            </a:r>
            <a:r>
              <a:rPr lang="ru-RU" sz="3600" dirty="0" err="1"/>
              <a:t>Название_миграции</a:t>
            </a:r>
            <a:r>
              <a:rPr lang="ru-RU" sz="3600" dirty="0"/>
              <a:t> – создание миграции базы данных</a:t>
            </a:r>
          </a:p>
          <a:p>
            <a:pPr marL="0" indent="0">
              <a:buNone/>
            </a:pPr>
            <a:endParaRPr lang="ru-RU" sz="3600" dirty="0"/>
          </a:p>
          <a:p>
            <a:pPr marL="0" indent="0">
              <a:buNone/>
            </a:pPr>
            <a:endParaRPr lang="ru-RU" sz="3600" dirty="0"/>
          </a:p>
          <a:p>
            <a:pPr marL="0" indent="0">
              <a:buNone/>
            </a:pPr>
            <a:r>
              <a:rPr lang="ru-RU" sz="3600" dirty="0" err="1"/>
              <a:t>dotnet</a:t>
            </a:r>
            <a:r>
              <a:rPr lang="ru-RU" sz="3600" dirty="0"/>
              <a:t> </a:t>
            </a:r>
            <a:r>
              <a:rPr lang="ru-RU" sz="3600" dirty="0" err="1"/>
              <a:t>ef</a:t>
            </a:r>
            <a:r>
              <a:rPr lang="ru-RU" sz="3600" dirty="0"/>
              <a:t> </a:t>
            </a:r>
            <a:r>
              <a:rPr lang="ru-RU" sz="3600" dirty="0" err="1"/>
              <a:t>database</a:t>
            </a:r>
            <a:r>
              <a:rPr lang="ru-RU" sz="3600" dirty="0"/>
              <a:t> </a:t>
            </a:r>
            <a:r>
              <a:rPr lang="ru-RU" sz="3600" dirty="0" err="1"/>
              <a:t>update</a:t>
            </a:r>
            <a:r>
              <a:rPr lang="ru-RU" sz="3600" dirty="0"/>
              <a:t> – применение последней созданной миграции к базе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279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 First</a:t>
            </a:r>
            <a:endParaRPr lang="ru-RU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D05D58E-4A22-430A-B817-4F4525663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02C036-4CFB-4EC8-9D0E-A31D8E10537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16436" y="1307256"/>
            <a:ext cx="10282537" cy="4869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47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D05D58E-4A22-430A-B817-4F4525663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400" dirty="0"/>
              <a:t>Сначала создается база данных, а код генерируется на основе её структуры. </a:t>
            </a:r>
          </a:p>
        </p:txBody>
      </p:sp>
    </p:spTree>
    <p:extLst>
      <p:ext uri="{BB962C8B-B14F-4D97-AF65-F5344CB8AC3E}">
        <p14:creationId xmlns:p14="http://schemas.microsoft.com/office/powerpoint/2010/main" val="919073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D05D58E-4A22-430A-B817-4F4525663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dirty="0"/>
              <a:t>Перенос БД производится с помощью </a:t>
            </a:r>
            <a:r>
              <a:rPr lang="ru-RU" sz="3600" dirty="0" err="1"/>
              <a:t>скаффолдинга</a:t>
            </a:r>
            <a:r>
              <a:rPr lang="ru-RU" sz="3600" dirty="0"/>
              <a:t> (</a:t>
            </a:r>
            <a:r>
              <a:rPr lang="en-US" sz="3600" dirty="0"/>
              <a:t>Scaffold</a:t>
            </a:r>
            <a:r>
              <a:rPr lang="ru-RU" sz="3600" dirty="0"/>
              <a:t>) </a:t>
            </a:r>
            <a:r>
              <a:rPr lang="ru-RU" sz="3600" dirty="0">
                <a:sym typeface="Symbol" panose="05050102010706020507" pitchFamily="18" charset="2"/>
              </a:rPr>
              <a:t></a:t>
            </a:r>
            <a:r>
              <a:rPr lang="ru-RU" sz="3600" dirty="0"/>
              <a:t> метод автоматизированной генерации базовой структуры проекта или программного кода на основе моделей данных.</a:t>
            </a: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895738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D05F3DC-C802-4D8D-A47F-A4F9B0C87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6C9D153-D2F1-4C6D-9FF1-38E9699940C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89437" y="1568558"/>
            <a:ext cx="8804634" cy="460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712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D05F3DC-C802-4D8D-A47F-A4F9B0C87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4000" dirty="0" err="1"/>
              <a:t>dotnet</a:t>
            </a:r>
            <a:r>
              <a:rPr lang="ru-RU" sz="4000" dirty="0"/>
              <a:t> </a:t>
            </a:r>
            <a:r>
              <a:rPr lang="ru-RU" sz="4000" dirty="0" err="1"/>
              <a:t>ef</a:t>
            </a:r>
            <a:r>
              <a:rPr lang="ru-RU" sz="4000" dirty="0"/>
              <a:t> </a:t>
            </a:r>
            <a:r>
              <a:rPr lang="ru-RU" sz="4000" dirty="0" err="1"/>
              <a:t>dbcontext</a:t>
            </a:r>
            <a:r>
              <a:rPr lang="ru-RU" sz="4000" dirty="0"/>
              <a:t> </a:t>
            </a:r>
            <a:r>
              <a:rPr lang="ru-RU" sz="4000" dirty="0" err="1"/>
              <a:t>scaffold</a:t>
            </a:r>
            <a:r>
              <a:rPr lang="ru-RU" sz="4000" dirty="0"/>
              <a:t> "строка соединения с базой данных" </a:t>
            </a:r>
            <a:r>
              <a:rPr lang="ru-RU" sz="4000" dirty="0" err="1"/>
              <a:t>Pomelo.EntityFrameworkCore.MySql</a:t>
            </a:r>
            <a:r>
              <a:rPr lang="ru-RU" sz="4000" dirty="0"/>
              <a:t> --</a:t>
            </a:r>
            <a:r>
              <a:rPr lang="ru-RU" sz="4000" dirty="0" err="1"/>
              <a:t>context-dir</a:t>
            </a:r>
            <a:r>
              <a:rPr lang="ru-RU" sz="4000" dirty="0"/>
              <a:t> </a:t>
            </a:r>
            <a:r>
              <a:rPr lang="ru-RU" sz="4000" dirty="0" err="1"/>
              <a:t>DbContexts</a:t>
            </a:r>
            <a:r>
              <a:rPr lang="ru-RU" sz="4000" dirty="0"/>
              <a:t> --</a:t>
            </a:r>
            <a:r>
              <a:rPr lang="ru-RU" sz="4000" dirty="0" err="1"/>
              <a:t>output-dir</a:t>
            </a:r>
            <a:r>
              <a:rPr lang="ru-RU" sz="4000" dirty="0"/>
              <a:t> </a:t>
            </a:r>
            <a:r>
              <a:rPr lang="ru-RU" sz="4000" dirty="0" err="1"/>
              <a:t>Entities</a:t>
            </a:r>
            <a:endParaRPr lang="ru-RU" sz="4000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085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D05F3DC-C802-4D8D-A47F-A4F9B0C87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Строка подключения к БД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sz="4800" dirty="0"/>
              <a:t>server</a:t>
            </a:r>
            <a:r>
              <a:rPr lang="ru-RU" sz="4800" dirty="0"/>
              <a:t>=</a:t>
            </a:r>
            <a:r>
              <a:rPr lang="en-US" sz="4800" dirty="0"/>
              <a:t>localhost</a:t>
            </a:r>
            <a:r>
              <a:rPr lang="ru-RU" sz="4800" dirty="0"/>
              <a:t>; </a:t>
            </a:r>
            <a:r>
              <a:rPr lang="en-US" sz="4800" dirty="0"/>
              <a:t>user</a:t>
            </a:r>
            <a:r>
              <a:rPr lang="ru-RU" sz="4800" dirty="0"/>
              <a:t>=</a:t>
            </a:r>
            <a:r>
              <a:rPr lang="ru-RU" sz="4800" dirty="0" err="1"/>
              <a:t>имя_пользователя</a:t>
            </a:r>
            <a:r>
              <a:rPr lang="ru-RU" sz="4800" dirty="0"/>
              <a:t>; </a:t>
            </a:r>
            <a:r>
              <a:rPr lang="en-US" sz="4800" dirty="0"/>
              <a:t>password</a:t>
            </a:r>
            <a:r>
              <a:rPr lang="ru-RU" sz="4800" dirty="0"/>
              <a:t>=пароль; </a:t>
            </a:r>
            <a:r>
              <a:rPr lang="en-US" sz="4800" dirty="0" err="1"/>
              <a:t>databasae</a:t>
            </a:r>
            <a:r>
              <a:rPr lang="ru-RU" sz="4800" dirty="0"/>
              <a:t>=</a:t>
            </a:r>
            <a:r>
              <a:rPr lang="ru-RU" sz="4800" dirty="0" err="1"/>
              <a:t>название_бд</a:t>
            </a:r>
            <a:r>
              <a:rPr lang="en-US" sz="4800" dirty="0"/>
              <a:t>;</a:t>
            </a:r>
            <a:endParaRPr lang="ru-RU" sz="4800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3429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7847C-BBD8-4649-8C9E-D48F66AF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DataBase</a:t>
            </a:r>
            <a:r>
              <a:rPr lang="en-US" b="1" dirty="0"/>
              <a:t> First</a:t>
            </a:r>
            <a:endParaRPr lang="ru-RU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634DA44-7450-48A5-AEAD-FBC41AF5A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B189E9-5674-497D-862D-481F0C0BE87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64545" y="1659011"/>
            <a:ext cx="6333978" cy="468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79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1876D5-1E32-4076-9338-21164234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Необходимые пакеты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49AF50-CBC8-44F4-9FEC-77568539F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600" dirty="0"/>
              <a:t>Microsoft</a:t>
            </a:r>
            <a:r>
              <a:rPr lang="ru-RU" sz="3600" dirty="0"/>
              <a:t>.</a:t>
            </a:r>
            <a:r>
              <a:rPr lang="en-US" sz="3600" dirty="0" err="1"/>
              <a:t>EntityFrameworkCore</a:t>
            </a:r>
            <a:r>
              <a:rPr lang="ru-RU" sz="3600" dirty="0"/>
              <a:t> (версия 8.0.11)</a:t>
            </a:r>
          </a:p>
          <a:p>
            <a:pPr lvl="0"/>
            <a:r>
              <a:rPr lang="en-US" sz="3600" dirty="0"/>
              <a:t>Microsoft</a:t>
            </a:r>
            <a:r>
              <a:rPr lang="ru-RU" sz="3600" dirty="0"/>
              <a:t>.</a:t>
            </a:r>
            <a:r>
              <a:rPr lang="en-US" sz="3600" dirty="0" err="1"/>
              <a:t>EntityFrameworkCore</a:t>
            </a:r>
            <a:r>
              <a:rPr lang="ru-RU" sz="3600" dirty="0"/>
              <a:t>.</a:t>
            </a:r>
            <a:r>
              <a:rPr lang="en-US" sz="3600" dirty="0"/>
              <a:t>Tools</a:t>
            </a:r>
            <a:r>
              <a:rPr lang="ru-RU" sz="3600" dirty="0"/>
              <a:t> (версия 8.0.11)</a:t>
            </a:r>
          </a:p>
          <a:p>
            <a:pPr lvl="0"/>
            <a:r>
              <a:rPr lang="en-US" sz="3600" dirty="0"/>
              <a:t>Pomelo</a:t>
            </a:r>
            <a:r>
              <a:rPr lang="ru-RU" sz="3600" dirty="0"/>
              <a:t>.</a:t>
            </a:r>
            <a:r>
              <a:rPr lang="en-US" sz="3600" dirty="0" err="1"/>
              <a:t>EntityFrameworkCore</a:t>
            </a:r>
            <a:r>
              <a:rPr lang="ru-RU" sz="3600" dirty="0"/>
              <a:t>.</a:t>
            </a:r>
            <a:r>
              <a:rPr lang="en-US" sz="3600" dirty="0" err="1"/>
              <a:t>MySql</a:t>
            </a:r>
            <a:r>
              <a:rPr lang="ru-RU" sz="3600" dirty="0"/>
              <a:t> (версия 8.0.2)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443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1876D5-1E32-4076-9338-21164234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Необходимые пакеты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809FCED4-8744-4CB6-AD55-478E2D1D6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6" name="Рисунок 5" descr="C:\Users\albin\OneDrive\Pictures\Screenshots\2025-02-06 (2).png">
            <a:extLst>
              <a:ext uri="{FF2B5EF4-FFF2-40B4-BE49-F238E27FC236}">
                <a16:creationId xmlns:a16="http://schemas.microsoft.com/office/drawing/2014/main" id="{9FED26E0-B3F8-4B7C-8AF5-8486E4EA7BA5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136" t="38402" r="76" b="51658"/>
          <a:stretch/>
        </p:blipFill>
        <p:spPr bwMode="auto">
          <a:xfrm>
            <a:off x="-1836862" y="2033014"/>
            <a:ext cx="14028862" cy="233159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103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5E4E31-D077-4D63-956C-3F7505DBF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A67BBC-9B6A-482E-BFC2-E1F748938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A144F4E-357D-4593-9E5E-07BCCBD4528C}"/>
              </a:ext>
            </a:extLst>
          </p:cNvPr>
          <p:cNvPicPr/>
          <p:nvPr/>
        </p:nvPicPr>
        <p:blipFill rotWithShape="1">
          <a:blip r:embed="rId2"/>
          <a:srcRect l="65291" t="40221" b="-2413"/>
          <a:stretch/>
        </p:blipFill>
        <p:spPr bwMode="auto">
          <a:xfrm>
            <a:off x="1525666" y="263950"/>
            <a:ext cx="9140668" cy="208351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3209B6-C272-439B-8E51-34F2FB6FC315}"/>
              </a:ext>
            </a:extLst>
          </p:cNvPr>
          <p:cNvPicPr/>
          <p:nvPr/>
        </p:nvPicPr>
        <p:blipFill rotWithShape="1">
          <a:blip r:embed="rId3"/>
          <a:srcRect b="37976"/>
          <a:stretch/>
        </p:blipFill>
        <p:spPr>
          <a:xfrm>
            <a:off x="1403118" y="2478405"/>
            <a:ext cx="9263216" cy="197381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5FCD199-668A-41E8-AAE5-BCACC4A30A8E}"/>
              </a:ext>
            </a:extLst>
          </p:cNvPr>
          <p:cNvPicPr/>
          <p:nvPr/>
        </p:nvPicPr>
        <p:blipFill rotWithShape="1">
          <a:blip r:embed="rId4"/>
          <a:srcRect b="35372"/>
          <a:stretch/>
        </p:blipFill>
        <p:spPr>
          <a:xfrm>
            <a:off x="1403118" y="4629443"/>
            <a:ext cx="9263217" cy="196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5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A63F39-B65E-4B0D-9E3C-4409CD20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Необходимые пакеты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6CD5AB-DAE7-4402-9205-8B210655F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dotnet add package </a:t>
            </a:r>
            <a:r>
              <a:rPr lang="en-US" dirty="0" err="1"/>
              <a:t>Microsoft.EntityFrameworkCore</a:t>
            </a:r>
            <a:r>
              <a:rPr lang="en-US" dirty="0"/>
              <a:t> --version 8.0.11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dotnet add package </a:t>
            </a:r>
            <a:r>
              <a:rPr lang="en-US" dirty="0" err="1"/>
              <a:t>Microsoft.EntityFrameworkCore.Tools</a:t>
            </a:r>
            <a:r>
              <a:rPr lang="en-US" dirty="0"/>
              <a:t> --version 8.0.11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dotnet add package </a:t>
            </a:r>
            <a:r>
              <a:rPr lang="en-US" dirty="0" err="1"/>
              <a:t>Pomelo.EntityFrameworkCore.MySql</a:t>
            </a:r>
            <a:r>
              <a:rPr lang="en-US" dirty="0"/>
              <a:t> –version 8.0.2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444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362CF-06E5-4DBC-8218-31042F540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dirty="0"/>
              <a:t>Для работы с базой данных используется </a:t>
            </a:r>
            <a:r>
              <a:rPr lang="en-US" sz="4000" b="1" dirty="0"/>
              <a:t>LINQ</a:t>
            </a:r>
            <a:endParaRPr lang="ru-RU" sz="4000" b="1" dirty="0"/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ru-RU" b="1" dirty="0"/>
              <a:t>LINQ</a:t>
            </a:r>
            <a:r>
              <a:rPr lang="ru-RU" dirty="0"/>
              <a:t> — это способ работать с данными прямо внутри C#.</a:t>
            </a:r>
            <a:endParaRPr lang="ru-RU" sz="4000" b="1" dirty="0"/>
          </a:p>
        </p:txBody>
      </p:sp>
    </p:spTree>
    <p:extLst>
      <p:ext uri="{BB962C8B-B14F-4D97-AF65-F5344CB8AC3E}">
        <p14:creationId xmlns:p14="http://schemas.microsoft.com/office/powerpoint/2010/main" val="16742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DD58D6-484C-48FD-A383-28D521E96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LINQ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9BC9C0-F74C-4116-A9CD-F19E0212C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b="1" dirty="0"/>
              <a:t>(</a:t>
            </a:r>
            <a:r>
              <a:rPr lang="ru-RU" sz="3600" b="1" dirty="0" err="1"/>
              <a:t>Language-Integrated</a:t>
            </a:r>
            <a:r>
              <a:rPr lang="ru-RU" sz="3600" b="1" dirty="0"/>
              <a:t> </a:t>
            </a:r>
            <a:r>
              <a:rPr lang="ru-RU" sz="3600" b="1" dirty="0" err="1"/>
              <a:t>Query</a:t>
            </a:r>
            <a:r>
              <a:rPr lang="ru-RU" sz="3600" b="1" dirty="0"/>
              <a:t>)</a:t>
            </a:r>
            <a:r>
              <a:rPr lang="ru-RU" sz="3600" dirty="0"/>
              <a:t> представляет простой и удобный язык запросов к источнику данных. В качестве источника данных может выступать объект, реализующий интерфейс </a:t>
            </a:r>
            <a:r>
              <a:rPr lang="ru-RU" sz="3600" dirty="0" err="1"/>
              <a:t>IEnumerable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295013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DD58D6-484C-48FD-A383-28D521E96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LINQ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9BC9C0-F74C-4116-A9CD-F19E0212C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// SQL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SELECT * FROM Products WHERE Price &gt; 1000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dirty="0"/>
              <a:t>// C#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var products = </a:t>
            </a:r>
            <a:r>
              <a:rPr lang="en-US" dirty="0" err="1"/>
              <a:t>db.Products.Where</a:t>
            </a:r>
            <a:r>
              <a:rPr lang="en-US" dirty="0"/>
              <a:t>(p =&gt; </a:t>
            </a:r>
            <a:r>
              <a:rPr lang="en-US" dirty="0" err="1"/>
              <a:t>p.Price</a:t>
            </a:r>
            <a:r>
              <a:rPr lang="en-US" dirty="0"/>
              <a:t> &gt; 1000).</a:t>
            </a:r>
            <a:r>
              <a:rPr lang="en-US" dirty="0" err="1"/>
              <a:t>ToList</a:t>
            </a:r>
            <a:r>
              <a:rPr lang="en-US" dirty="0"/>
              <a:t>();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55170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362CF-06E5-4DBC-8218-31042F540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err="1"/>
              <a:t>Where</a:t>
            </a:r>
            <a:endParaRPr lang="ru-RU" b="1" dirty="0"/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ru-RU" dirty="0"/>
              <a:t>Позволяет отобрать только те записи, которые соответствуют условию.</a:t>
            </a:r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en-US" dirty="0"/>
              <a:t>var </a:t>
            </a:r>
            <a:r>
              <a:rPr lang="en-US" dirty="0" err="1"/>
              <a:t>shortSongs</a:t>
            </a:r>
            <a:r>
              <a:rPr lang="en-US" dirty="0"/>
              <a:t> = </a:t>
            </a:r>
            <a:r>
              <a:rPr lang="en-US" dirty="0" err="1"/>
              <a:t>db.Tracks.Where</a:t>
            </a:r>
            <a:r>
              <a:rPr lang="en-US" dirty="0"/>
              <a:t>(t =&gt; </a:t>
            </a:r>
            <a:r>
              <a:rPr lang="en-US" dirty="0" err="1"/>
              <a:t>t.Duration</a:t>
            </a:r>
            <a:r>
              <a:rPr lang="en-US" dirty="0"/>
              <a:t> &lt; 180).</a:t>
            </a:r>
            <a:r>
              <a:rPr lang="en-US" dirty="0" err="1"/>
              <a:t>ToList</a:t>
            </a:r>
            <a:r>
              <a:rPr lang="en-US" dirty="0"/>
              <a:t>();</a:t>
            </a:r>
            <a:endParaRPr lang="ru-RU" dirty="0"/>
          </a:p>
          <a:p>
            <a:pPr marL="0" indent="0">
              <a:buNone/>
            </a:pPr>
            <a:endParaRPr lang="ru-RU" sz="4000" b="1" dirty="0"/>
          </a:p>
        </p:txBody>
      </p:sp>
    </p:spTree>
    <p:extLst>
      <p:ext uri="{BB962C8B-B14F-4D97-AF65-F5344CB8AC3E}">
        <p14:creationId xmlns:p14="http://schemas.microsoft.com/office/powerpoint/2010/main" val="59469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31A14B9-6C16-43E0-B485-3CF09B674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B3EFC07-B8D8-4D69-B207-F3B11BD6C5BB}"/>
              </a:ext>
            </a:extLst>
          </p:cNvPr>
          <p:cNvPicPr/>
          <p:nvPr/>
        </p:nvPicPr>
        <p:blipFill rotWithShape="1">
          <a:blip r:embed="rId2"/>
          <a:srcRect l="-108" t="2401" r="82679" b="85251"/>
          <a:stretch/>
        </p:blipFill>
        <p:spPr bwMode="auto">
          <a:xfrm>
            <a:off x="1666973" y="2310243"/>
            <a:ext cx="8858053" cy="318558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02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362CF-06E5-4DBC-8218-31042F540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err="1"/>
              <a:t>FirstOrDefault</a:t>
            </a:r>
            <a:endParaRPr lang="ru-RU" b="1" dirty="0"/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ru-RU" dirty="0"/>
              <a:t>Используется, когда нужна только первая запись, удовлетворяющая условию.</a:t>
            </a:r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en-US" dirty="0"/>
              <a:t>var </a:t>
            </a:r>
            <a:r>
              <a:rPr lang="en-US" dirty="0" err="1"/>
              <a:t>shortTrack</a:t>
            </a:r>
            <a:r>
              <a:rPr lang="en-US" dirty="0"/>
              <a:t> = </a:t>
            </a:r>
            <a:r>
              <a:rPr lang="en-US" dirty="0" err="1"/>
              <a:t>db.Tracks.FirstOrDefault</a:t>
            </a:r>
            <a:r>
              <a:rPr lang="en-US" dirty="0"/>
              <a:t>(t =&gt; </a:t>
            </a:r>
            <a:r>
              <a:rPr lang="en-US" dirty="0" err="1"/>
              <a:t>t.Duration</a:t>
            </a:r>
            <a:r>
              <a:rPr lang="en-US" dirty="0"/>
              <a:t> = 175);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1074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429C127F-30CC-43BE-8F91-CB480F1E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872C46-A7E5-4E08-9C29-06BE8E25BEFB}"/>
              </a:ext>
            </a:extLst>
          </p:cNvPr>
          <p:cNvPicPr/>
          <p:nvPr/>
        </p:nvPicPr>
        <p:blipFill rotWithShape="1">
          <a:blip r:embed="rId2"/>
          <a:srcRect t="87725" r="81272" b="3407"/>
          <a:stretch/>
        </p:blipFill>
        <p:spPr bwMode="auto">
          <a:xfrm>
            <a:off x="1842496" y="2920746"/>
            <a:ext cx="8507008" cy="21610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1586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362CF-06E5-4DBC-8218-31042F540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OrderBy</a:t>
            </a:r>
            <a:endParaRPr lang="ru-RU" b="1" dirty="0"/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ru-RU" dirty="0"/>
              <a:t>Упорядочивает результат по возрастанию или убыванию.</a:t>
            </a:r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en-US" dirty="0"/>
              <a:t>var </a:t>
            </a:r>
            <a:r>
              <a:rPr lang="en-US" dirty="0" err="1"/>
              <a:t>sortedTracks</a:t>
            </a:r>
            <a:r>
              <a:rPr lang="en-US" dirty="0"/>
              <a:t> = </a:t>
            </a:r>
            <a:r>
              <a:rPr lang="en-US" dirty="0" err="1"/>
              <a:t>db.Tracks.OrderBy</a:t>
            </a:r>
            <a:r>
              <a:rPr lang="en-US" dirty="0"/>
              <a:t>(t =&gt; </a:t>
            </a:r>
            <a:r>
              <a:rPr lang="en-US" dirty="0" err="1"/>
              <a:t>t.Duration</a:t>
            </a:r>
            <a:r>
              <a:rPr lang="en-US" dirty="0"/>
              <a:t>).</a:t>
            </a:r>
            <a:r>
              <a:rPr lang="en-US" dirty="0" err="1"/>
              <a:t>ToList</a:t>
            </a:r>
            <a:r>
              <a:rPr lang="en-US" dirty="0"/>
              <a:t>(); 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var </a:t>
            </a:r>
            <a:r>
              <a:rPr lang="en-US" dirty="0" err="1"/>
              <a:t>sortedTracksDesc</a:t>
            </a:r>
            <a:r>
              <a:rPr lang="en-US" dirty="0"/>
              <a:t> = </a:t>
            </a:r>
            <a:r>
              <a:rPr lang="en-US" dirty="0" err="1"/>
              <a:t>db.Tracks.OrderByDescending</a:t>
            </a:r>
            <a:r>
              <a:rPr lang="en-US" dirty="0"/>
              <a:t>(t =&gt; </a:t>
            </a:r>
            <a:r>
              <a:rPr lang="en-US" dirty="0" err="1"/>
              <a:t>t.Duration</a:t>
            </a:r>
            <a:r>
              <a:rPr lang="en-US" dirty="0"/>
              <a:t>).</a:t>
            </a:r>
            <a:r>
              <a:rPr lang="en-US" dirty="0" err="1"/>
              <a:t>ToList</a:t>
            </a:r>
            <a:r>
              <a:rPr lang="en-US" dirty="0"/>
              <a:t>(); </a:t>
            </a:r>
            <a:endParaRPr lang="ru-RU" sz="4000" b="1" dirty="0"/>
          </a:p>
        </p:txBody>
      </p:sp>
    </p:spTree>
    <p:extLst>
      <p:ext uri="{BB962C8B-B14F-4D97-AF65-F5344CB8AC3E}">
        <p14:creationId xmlns:p14="http://schemas.microsoft.com/office/powerpoint/2010/main" val="1387667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2C4C089-3F0E-422C-8BD4-63A295383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8BD565-3E02-499B-99CE-F04EAC738C7A}"/>
              </a:ext>
            </a:extLst>
          </p:cNvPr>
          <p:cNvPicPr/>
          <p:nvPr/>
        </p:nvPicPr>
        <p:blipFill rotWithShape="1">
          <a:blip r:embed="rId2"/>
          <a:srcRect l="55" t="45873" r="82295" b="32392"/>
          <a:stretch/>
        </p:blipFill>
        <p:spPr bwMode="auto">
          <a:xfrm>
            <a:off x="2560667" y="1536705"/>
            <a:ext cx="7460026" cy="492917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354007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362CF-06E5-4DBC-8218-31042F540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Include</a:t>
            </a:r>
            <a:endParaRPr lang="ru-RU" b="1" dirty="0"/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ru-RU" dirty="0"/>
              <a:t>Позволяет использовать поля связанных таблиц.</a:t>
            </a:r>
          </a:p>
          <a:p>
            <a:pPr marL="0" indent="0">
              <a:buNone/>
            </a:pPr>
            <a:endParaRPr lang="ru-RU" sz="4000" b="1" dirty="0"/>
          </a:p>
          <a:p>
            <a:pPr marL="0" indent="0">
              <a:buNone/>
            </a:pPr>
            <a:r>
              <a:rPr lang="en-US" dirty="0"/>
              <a:t>var </a:t>
            </a:r>
            <a:r>
              <a:rPr lang="en-US" dirty="0" err="1"/>
              <a:t>playlistsWithTracks</a:t>
            </a:r>
            <a:r>
              <a:rPr lang="en-US" dirty="0"/>
              <a:t> = </a:t>
            </a:r>
            <a:r>
              <a:rPr lang="en-US" dirty="0" err="1"/>
              <a:t>db.Playlists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.Include(p =&gt; </a:t>
            </a:r>
            <a:r>
              <a:rPr lang="en-US" dirty="0" err="1"/>
              <a:t>p.Tracks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ru-RU" dirty="0"/>
              <a:t>.</a:t>
            </a:r>
            <a:r>
              <a:rPr lang="ru-RU" dirty="0" err="1"/>
              <a:t>ToList</a:t>
            </a:r>
            <a:r>
              <a:rPr lang="ru-RU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530871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2074C-615E-4D53-BD4E-F453979E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4CDA05BD-8BBF-4166-A59E-10A107D92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E6E088C-D7D7-42EE-A8FD-D4834157D1E2}"/>
              </a:ext>
            </a:extLst>
          </p:cNvPr>
          <p:cNvPicPr/>
          <p:nvPr/>
        </p:nvPicPr>
        <p:blipFill rotWithShape="1">
          <a:blip r:embed="rId2"/>
          <a:srcRect l="-55" t="65410" r="81967" b="12120"/>
          <a:stretch/>
        </p:blipFill>
        <p:spPr bwMode="auto">
          <a:xfrm>
            <a:off x="2362985" y="1690688"/>
            <a:ext cx="7466029" cy="49764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10210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092B16-A13E-4049-92F8-D49F3C6B8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Команды для работы с БД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D7A974-E94E-4DDF-A8FE-70B992E6F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/>
              <a:t>var result = products</a:t>
            </a:r>
            <a:endParaRPr lang="ru-RU" sz="4000" dirty="0"/>
          </a:p>
          <a:p>
            <a:pPr marL="0" indent="0">
              <a:buNone/>
            </a:pPr>
            <a:r>
              <a:rPr lang="en-US" sz="4000" dirty="0"/>
              <a:t>    .Where(p =&gt; </a:t>
            </a:r>
            <a:r>
              <a:rPr lang="en-US" sz="4000" dirty="0" err="1"/>
              <a:t>p.Supplier</a:t>
            </a:r>
            <a:r>
              <a:rPr lang="en-US" sz="4000" dirty="0"/>
              <a:t> == </a:t>
            </a:r>
            <a:r>
              <a:rPr lang="en-US" sz="4000" dirty="0" err="1"/>
              <a:t>selectedSupplier</a:t>
            </a:r>
            <a:r>
              <a:rPr lang="en-US" sz="4000" dirty="0"/>
              <a:t>)</a:t>
            </a:r>
            <a:endParaRPr lang="ru-RU" sz="4000" dirty="0"/>
          </a:p>
          <a:p>
            <a:pPr marL="0" indent="0">
              <a:buNone/>
            </a:pPr>
            <a:r>
              <a:rPr lang="en-US" sz="4000" dirty="0"/>
              <a:t>    .Where(p =&gt; </a:t>
            </a:r>
            <a:r>
              <a:rPr lang="en-US" sz="4000" dirty="0" err="1"/>
              <a:t>p.Name.Contains</a:t>
            </a:r>
            <a:r>
              <a:rPr lang="en-US" sz="4000" dirty="0"/>
              <a:t>(</a:t>
            </a:r>
            <a:r>
              <a:rPr lang="en-US" sz="4000" dirty="0" err="1"/>
              <a:t>searchText</a:t>
            </a:r>
            <a:r>
              <a:rPr lang="en-US" sz="4000" dirty="0"/>
              <a:t>))</a:t>
            </a:r>
            <a:endParaRPr lang="ru-RU" sz="4000" dirty="0"/>
          </a:p>
          <a:p>
            <a:pPr marL="0" indent="0">
              <a:buNone/>
            </a:pPr>
            <a:r>
              <a:rPr lang="en-US" sz="4000" dirty="0"/>
              <a:t>    .</a:t>
            </a:r>
            <a:r>
              <a:rPr lang="en-US" sz="4000" dirty="0" err="1"/>
              <a:t>OrderBy</a:t>
            </a:r>
            <a:r>
              <a:rPr lang="en-US" sz="4000" dirty="0"/>
              <a:t>(p =&gt; </a:t>
            </a:r>
            <a:r>
              <a:rPr lang="en-US" sz="4000" dirty="0" err="1"/>
              <a:t>p.Quantity</a:t>
            </a:r>
            <a:r>
              <a:rPr lang="en-US" sz="4000" dirty="0"/>
              <a:t>)</a:t>
            </a:r>
            <a:endParaRPr lang="ru-RU" sz="4000" dirty="0"/>
          </a:p>
          <a:p>
            <a:pPr marL="0" indent="0">
              <a:buNone/>
            </a:pPr>
            <a:r>
              <a:rPr lang="en-US" sz="4000" dirty="0"/>
              <a:t>    .</a:t>
            </a:r>
            <a:r>
              <a:rPr lang="en-US" sz="4000" dirty="0" err="1"/>
              <a:t>ToList</a:t>
            </a:r>
            <a:r>
              <a:rPr lang="en-US" sz="4000" dirty="0"/>
              <a:t>();</a:t>
            </a:r>
            <a:endParaRPr lang="ru-RU" sz="4000" dirty="0"/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947859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F12643-71B3-4741-8775-25A1F9099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CRUD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12FA75-78D7-4332-90D1-253618CBB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Аббревиатура CRUD расшифровывается как </a:t>
            </a:r>
            <a:r>
              <a:rPr lang="ru-RU" dirty="0" err="1"/>
              <a:t>Create</a:t>
            </a:r>
            <a:r>
              <a:rPr lang="ru-RU" dirty="0"/>
              <a:t>, </a:t>
            </a:r>
            <a:r>
              <a:rPr lang="ru-RU" dirty="0" err="1"/>
              <a:t>Read</a:t>
            </a:r>
            <a:r>
              <a:rPr lang="ru-RU" dirty="0"/>
              <a:t>, </a:t>
            </a:r>
            <a:r>
              <a:rPr lang="ru-RU" dirty="0" err="1"/>
              <a:t>Update</a:t>
            </a:r>
            <a:r>
              <a:rPr lang="ru-RU" dirty="0"/>
              <a:t>, </a:t>
            </a:r>
            <a:r>
              <a:rPr lang="ru-RU" dirty="0" err="1"/>
              <a:t>Delete</a:t>
            </a:r>
            <a:r>
              <a:rPr lang="ru-RU" dirty="0"/>
              <a:t> — создание, чтение, обновление и удаление. 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Это четыре основные операции, которые выполняет любое приложение, работающее с данными.</a:t>
            </a:r>
          </a:p>
        </p:txBody>
      </p:sp>
    </p:spTree>
    <p:extLst>
      <p:ext uri="{BB962C8B-B14F-4D97-AF65-F5344CB8AC3E}">
        <p14:creationId xmlns:p14="http://schemas.microsoft.com/office/powerpoint/2010/main" val="104498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Read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/>
              <a:t>Это получение данных из базы через запросы, фильтрацию и сортировку. Всё строится вокруг </a:t>
            </a:r>
            <a:r>
              <a:rPr lang="ru-RU" sz="3600" dirty="0" err="1"/>
              <a:t>DbSet</a:t>
            </a:r>
            <a:r>
              <a:rPr lang="ru-RU" sz="3600" dirty="0"/>
              <a:t> и LINQ.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0193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Create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/>
              <a:t>Чтобы добавить новую запись в базу данных, нужно создать объект соответствующего класса, добавить его в </a:t>
            </a:r>
            <a:r>
              <a:rPr lang="ru-RU" sz="3600" dirty="0" err="1"/>
              <a:t>DbSet</a:t>
            </a:r>
            <a:r>
              <a:rPr lang="ru-RU" sz="3600" dirty="0"/>
              <a:t> и вызвать </a:t>
            </a:r>
            <a:r>
              <a:rPr lang="ru-RU" sz="3600" dirty="0" err="1"/>
              <a:t>SaveChanges</a:t>
            </a:r>
            <a:r>
              <a:rPr lang="ru-RU" sz="3600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09879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Create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using (var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AppDbContext</a:t>
            </a:r>
            <a:r>
              <a:rPr lang="en-US" dirty="0"/>
              <a:t>())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{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var </a:t>
            </a:r>
            <a:r>
              <a:rPr lang="en-US" dirty="0" err="1"/>
              <a:t>newProduct</a:t>
            </a:r>
            <a:r>
              <a:rPr lang="en-US" dirty="0"/>
              <a:t> = new Product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{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    Name = "</a:t>
            </a:r>
            <a:r>
              <a:rPr lang="ru-RU" dirty="0"/>
              <a:t>Новый товар</a:t>
            </a:r>
            <a:r>
              <a:rPr lang="en-US" dirty="0"/>
              <a:t>",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    Price = 1500,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CategoryId</a:t>
            </a:r>
            <a:r>
              <a:rPr lang="en-US" dirty="0"/>
              <a:t> = 3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ru-RU" dirty="0"/>
              <a:t>};</a:t>
            </a:r>
          </a:p>
          <a:p>
            <a:pPr marL="0" indent="0">
              <a:buNone/>
            </a:pPr>
            <a:r>
              <a:rPr lang="en-US" dirty="0"/>
              <a:t>    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db.Products.Add</a:t>
            </a:r>
            <a:r>
              <a:rPr lang="en-US" dirty="0"/>
              <a:t>(</a:t>
            </a:r>
            <a:r>
              <a:rPr lang="en-US" dirty="0" err="1"/>
              <a:t>newProduct</a:t>
            </a:r>
            <a:r>
              <a:rPr lang="en-US" dirty="0"/>
              <a:t>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db.SaveChanges</a:t>
            </a:r>
            <a:r>
              <a:rPr lang="en-US" dirty="0"/>
              <a:t>();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8772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Update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/>
              <a:t>Для обновления нужно сначала получить объект из базы, изменить его свойства и снова вызвать </a:t>
            </a:r>
            <a:r>
              <a:rPr lang="ru-RU" sz="3600" dirty="0" err="1"/>
              <a:t>SaveChanges</a:t>
            </a:r>
            <a:r>
              <a:rPr lang="ru-RU" sz="3600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51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Update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using (var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AppDbContext</a:t>
            </a:r>
            <a:r>
              <a:rPr lang="en-US" dirty="0"/>
              <a:t>())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{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var product = </a:t>
            </a:r>
            <a:r>
              <a:rPr lang="en-US" dirty="0" err="1"/>
              <a:t>db.Products.Find</a:t>
            </a:r>
            <a:r>
              <a:rPr lang="en-US" dirty="0"/>
              <a:t>(5);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product.Name</a:t>
            </a:r>
            <a:r>
              <a:rPr lang="ru-RU" dirty="0"/>
              <a:t> = "Новое название";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product.Price</a:t>
            </a:r>
            <a:r>
              <a:rPr lang="ru-RU" dirty="0"/>
              <a:t> = 2000;</a:t>
            </a:r>
          </a:p>
          <a:p>
            <a:pPr marL="0" indent="0">
              <a:buNone/>
            </a:pPr>
            <a:r>
              <a:rPr lang="ru-RU" dirty="0"/>
              <a:t>    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db.SaveChanges</a:t>
            </a:r>
            <a:r>
              <a:rPr lang="ru-RU" dirty="0"/>
              <a:t>();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8119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Delete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/>
              <a:t>Для удаления объект нужно передать в метод </a:t>
            </a:r>
            <a:r>
              <a:rPr lang="ru-RU" sz="3600" dirty="0" err="1"/>
              <a:t>Remove</a:t>
            </a:r>
            <a:r>
              <a:rPr lang="en-US" sz="3600" dirty="0"/>
              <a:t> </a:t>
            </a:r>
            <a:r>
              <a:rPr lang="ru-RU" sz="3600" dirty="0"/>
              <a:t>и снова вызвать </a:t>
            </a:r>
            <a:r>
              <a:rPr lang="ru-RU" sz="3600" dirty="0" err="1"/>
              <a:t>SaveChanges</a:t>
            </a:r>
            <a:r>
              <a:rPr lang="ru-RU" sz="3600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782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7710C-25A5-4FF9-B9F0-8B7FFC3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Delete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613CE-FD63-4473-9AE2-13AA36E7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(var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AppDbContext</a:t>
            </a:r>
            <a:r>
              <a:rPr lang="en-US" dirty="0"/>
              <a:t>())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en-US" dirty="0"/>
              <a:t>        var product = </a:t>
            </a:r>
            <a:r>
              <a:rPr lang="en-US" dirty="0" err="1"/>
              <a:t>db.Products.Find</a:t>
            </a:r>
            <a:r>
              <a:rPr lang="en-US" dirty="0"/>
              <a:t>(5);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db.Products.Remove</a:t>
            </a:r>
            <a:r>
              <a:rPr lang="en-US" dirty="0"/>
              <a:t>(product);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  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db.SaveChanges</a:t>
            </a:r>
            <a:r>
              <a:rPr lang="ru-RU" dirty="0"/>
              <a:t>();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4209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76B481-1B05-46CD-A469-88AFAECF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AC9567-6297-4F17-8F22-2B996088D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358" y="515299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4800" dirty="0"/>
              <a:t>ПОСЛЕ КАЖДОЙ ОПЕРАЦИИ ОБЯЗАТЕЛЬНО ПРОПИСЫВАТЬ</a:t>
            </a:r>
            <a:endParaRPr lang="en-US" sz="4800" dirty="0"/>
          </a:p>
          <a:p>
            <a:pPr marL="0" indent="0" algn="ctr">
              <a:buNone/>
            </a:pPr>
            <a:endParaRPr lang="en-US" sz="4800" dirty="0"/>
          </a:p>
          <a:p>
            <a:pPr marL="0" indent="0" algn="ctr">
              <a:buNone/>
            </a:pPr>
            <a:r>
              <a:rPr lang="ru-RU" sz="4800" dirty="0"/>
              <a:t> </a:t>
            </a:r>
            <a:r>
              <a:rPr lang="en-US" sz="4800" b="1" dirty="0"/>
              <a:t>SAVECHANGES()</a:t>
            </a:r>
            <a:endParaRPr lang="ru-RU" sz="4800" b="1" dirty="0"/>
          </a:p>
        </p:txBody>
      </p:sp>
    </p:spTree>
    <p:extLst>
      <p:ext uri="{BB962C8B-B14F-4D97-AF65-F5344CB8AC3E}">
        <p14:creationId xmlns:p14="http://schemas.microsoft.com/office/powerpoint/2010/main" val="49913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744109-44AA-4BC5-BDB5-208B87AB7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 WPF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6A9687-8061-4D30-8DE9-F14107B0F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4000" dirty="0"/>
              <a:t>WPF работает с коллекциями, которые умеют уведомлять интерфейс об изменениях, а </a:t>
            </a:r>
            <a:r>
              <a:rPr lang="ru-RU" sz="4000" dirty="0" err="1"/>
              <a:t>Entity</a:t>
            </a:r>
            <a:r>
              <a:rPr lang="ru-RU" sz="4000" dirty="0"/>
              <a:t> </a:t>
            </a:r>
            <a:r>
              <a:rPr lang="ru-RU" sz="4000" dirty="0" err="1"/>
              <a:t>Framework</a:t>
            </a:r>
            <a:r>
              <a:rPr lang="ru-RU" sz="4000" dirty="0"/>
              <a:t> даёт данные в виде обычных списков. 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225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56F7E-22AC-4A6B-AD8E-C4E127CD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Коллекции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F9CF47-CC6F-4DB5-8CF2-9E33C04C3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4000" dirty="0"/>
              <a:t>Коллекции представляют собой наборы однотипных объектов. В отличие от массивов, они позволяют хранить неограниченное количество элементов.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2774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56F7E-22AC-4A6B-AD8E-C4E127CD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Коллекции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F9CF47-CC6F-4DB5-8CF2-9E33C04C3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/>
            <a:r>
              <a:rPr lang="ru-RU" dirty="0" err="1"/>
              <a:t>List</a:t>
            </a:r>
            <a:r>
              <a:rPr lang="ru-RU" dirty="0"/>
              <a:t>&lt;T&gt; — универсальный динамический список, основной рабочий инструмент.</a:t>
            </a:r>
          </a:p>
          <a:p>
            <a:pPr lvl="0"/>
            <a:r>
              <a:rPr lang="ru-RU" dirty="0" err="1"/>
              <a:t>Dictionary</a:t>
            </a:r>
            <a:r>
              <a:rPr lang="ru-RU" dirty="0"/>
              <a:t>&lt;</a:t>
            </a:r>
            <a:r>
              <a:rPr lang="ru-RU" dirty="0" err="1"/>
              <a:t>TKey</a:t>
            </a:r>
            <a:r>
              <a:rPr lang="ru-RU" dirty="0"/>
              <a:t>, </a:t>
            </a:r>
            <a:r>
              <a:rPr lang="ru-RU" dirty="0" err="1"/>
              <a:t>TValue</a:t>
            </a:r>
            <a:r>
              <a:rPr lang="ru-RU" dirty="0"/>
              <a:t>&gt; — коллекция ключей и значений, обеспечивающая быстрый поиск по ключу.</a:t>
            </a:r>
          </a:p>
          <a:p>
            <a:pPr lvl="0"/>
            <a:r>
              <a:rPr lang="ru-RU" dirty="0" err="1"/>
              <a:t>Queue</a:t>
            </a:r>
            <a:r>
              <a:rPr lang="ru-RU" dirty="0"/>
              <a:t>&lt;T&gt; — очередь, работающая по принципу "первый вошел — первый вышел" (FIFO).</a:t>
            </a:r>
          </a:p>
          <a:p>
            <a:pPr lvl="0"/>
            <a:r>
              <a:rPr lang="ru-RU" dirty="0" err="1"/>
              <a:t>Stack</a:t>
            </a:r>
            <a:r>
              <a:rPr lang="ru-RU" dirty="0"/>
              <a:t>&lt;T&gt; — стек, работающий по принципу "последний вошел — первый вышел" (LIFO).</a:t>
            </a:r>
          </a:p>
          <a:p>
            <a:pPr lvl="0"/>
            <a:r>
              <a:rPr lang="ru-RU" dirty="0" err="1"/>
              <a:t>ObservableCollection</a:t>
            </a:r>
            <a:r>
              <a:rPr lang="ru-RU" dirty="0"/>
              <a:t>&lt;T&gt; — коллекция с поддержкой уведомлений об изменениях, критически важная для привязки данных в интерфейсе.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5808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56F7E-22AC-4A6B-AD8E-C4E127CD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Списки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F9CF47-CC6F-4DB5-8CF2-9E33C04C3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dirty="0" err="1"/>
              <a:t>List</a:t>
            </a:r>
            <a:r>
              <a:rPr lang="ru-RU" dirty="0"/>
              <a:t>&lt;T&gt; — это динамический массив, предназначенный для хранения элементов определенного типа T. Мы можем добавлять, удалять, вставлять элементы и обращаться по индексу. </a:t>
            </a:r>
          </a:p>
          <a:p>
            <a:pPr marL="0" lv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dirty="0"/>
              <a:t>List</a:t>
            </a:r>
            <a:r>
              <a:rPr lang="ru-RU" dirty="0"/>
              <a:t>&lt;</a:t>
            </a:r>
            <a:r>
              <a:rPr lang="ru-RU" dirty="0" err="1"/>
              <a:t>тип_данных</a:t>
            </a:r>
            <a:r>
              <a:rPr lang="ru-RU" dirty="0"/>
              <a:t>&gt; название списка = </a:t>
            </a:r>
            <a:r>
              <a:rPr lang="en-US" dirty="0"/>
              <a:t>new List</a:t>
            </a:r>
            <a:r>
              <a:rPr lang="ru-RU" dirty="0"/>
              <a:t>&lt;</a:t>
            </a:r>
            <a:r>
              <a:rPr lang="ru-RU" dirty="0" err="1"/>
              <a:t>тип_данных</a:t>
            </a:r>
            <a:r>
              <a:rPr lang="ru-RU" dirty="0"/>
              <a:t>&gt;();</a:t>
            </a:r>
          </a:p>
          <a:p>
            <a:pPr marL="0" lv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7476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56F7E-22AC-4A6B-AD8E-C4E127CD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OBSERVABLE</a:t>
            </a:r>
            <a:r>
              <a:rPr lang="ru-RU" b="1" dirty="0"/>
              <a:t> </a:t>
            </a:r>
            <a:r>
              <a:rPr lang="en-US" b="1" dirty="0"/>
              <a:t>COLLECTION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F9CF47-CC6F-4DB5-8CF2-9E33C04C3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ObservableCollection</a:t>
            </a:r>
            <a:r>
              <a:rPr lang="ru-RU" dirty="0"/>
              <a:t>&lt;</a:t>
            </a:r>
            <a:r>
              <a:rPr lang="en-US" dirty="0"/>
              <a:t>T</a:t>
            </a:r>
            <a:r>
              <a:rPr lang="ru-RU" dirty="0"/>
              <a:t>&gt; — это коллекция, которая автоматически уведомляет о изменениях (добавление, удаление, перемещение элементов или обновление всего списка).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dirty="0" err="1"/>
              <a:t>ObservableCollection</a:t>
            </a:r>
            <a:r>
              <a:rPr lang="en-US" dirty="0"/>
              <a:t>&lt;</a:t>
            </a:r>
            <a:r>
              <a:rPr lang="ru-RU" dirty="0"/>
              <a:t>тип</a:t>
            </a:r>
            <a:r>
              <a:rPr lang="en-US" dirty="0"/>
              <a:t>_</a:t>
            </a:r>
            <a:r>
              <a:rPr lang="ru-RU" dirty="0"/>
              <a:t>данных</a:t>
            </a:r>
            <a:r>
              <a:rPr lang="en-US" dirty="0"/>
              <a:t>&gt; </a:t>
            </a:r>
            <a:r>
              <a:rPr lang="ru-RU" dirty="0"/>
              <a:t>название</a:t>
            </a:r>
            <a:r>
              <a:rPr lang="en-US" dirty="0"/>
              <a:t> = new </a:t>
            </a:r>
            <a:r>
              <a:rPr lang="en-US" dirty="0" err="1"/>
              <a:t>ObservableCollection</a:t>
            </a:r>
            <a:r>
              <a:rPr lang="en-US" dirty="0"/>
              <a:t>&lt;</a:t>
            </a:r>
            <a:r>
              <a:rPr lang="ru-RU" dirty="0"/>
              <a:t>тип</a:t>
            </a:r>
            <a:r>
              <a:rPr lang="en-US" dirty="0"/>
              <a:t>_</a:t>
            </a:r>
            <a:r>
              <a:rPr lang="ru-RU" dirty="0"/>
              <a:t>данных</a:t>
            </a:r>
            <a:r>
              <a:rPr lang="en-US" dirty="0"/>
              <a:t>&gt;();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2190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AABA37-59E7-4C5B-B11C-78509DB2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 Коллекциями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525020-E779-46ED-B959-477CC01E8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b="1" dirty="0" err="1"/>
              <a:t>Add</a:t>
            </a:r>
            <a:r>
              <a:rPr lang="ru-RU" b="1" dirty="0"/>
              <a:t>(</a:t>
            </a:r>
            <a:r>
              <a:rPr lang="ru-RU" b="1" dirty="0" err="1"/>
              <a:t>item</a:t>
            </a:r>
            <a:r>
              <a:rPr lang="ru-RU" b="1" dirty="0"/>
              <a:t>) </a:t>
            </a:r>
            <a:r>
              <a:rPr lang="ru-RU" dirty="0"/>
              <a:t>— добавить элемент в конец</a:t>
            </a:r>
          </a:p>
          <a:p>
            <a:pPr marL="0" indent="0">
              <a:buNone/>
            </a:pPr>
            <a:r>
              <a:rPr lang="ru-RU" dirty="0" err="1"/>
              <a:t>products.Add</a:t>
            </a:r>
            <a:r>
              <a:rPr lang="ru-RU" dirty="0"/>
              <a:t>(</a:t>
            </a:r>
            <a:r>
              <a:rPr lang="ru-RU" dirty="0" err="1"/>
              <a:t>product</a:t>
            </a:r>
            <a:r>
              <a:rPr lang="ru-RU" dirty="0"/>
              <a:t>);</a:t>
            </a:r>
          </a:p>
          <a:p>
            <a:endParaRPr lang="ru-RU" dirty="0"/>
          </a:p>
          <a:p>
            <a:pPr lvl="0"/>
            <a:r>
              <a:rPr lang="ru-RU" b="1" dirty="0" err="1"/>
              <a:t>Insert</a:t>
            </a:r>
            <a:r>
              <a:rPr lang="ru-RU" b="1" dirty="0"/>
              <a:t>(</a:t>
            </a:r>
            <a:r>
              <a:rPr lang="ru-RU" b="1" dirty="0" err="1"/>
              <a:t>index</a:t>
            </a:r>
            <a:r>
              <a:rPr lang="ru-RU" b="1" dirty="0"/>
              <a:t>, </a:t>
            </a:r>
            <a:r>
              <a:rPr lang="ru-RU" b="1" dirty="0" err="1"/>
              <a:t>item</a:t>
            </a:r>
            <a:r>
              <a:rPr lang="ru-RU" b="1" dirty="0"/>
              <a:t>) </a:t>
            </a:r>
            <a:r>
              <a:rPr lang="ru-RU" dirty="0"/>
              <a:t>— вставить элемент по индексу</a:t>
            </a:r>
          </a:p>
          <a:p>
            <a:pPr marL="0" indent="0">
              <a:buNone/>
            </a:pPr>
            <a:r>
              <a:rPr lang="en-US" dirty="0" err="1"/>
              <a:t>Products.Insert</a:t>
            </a:r>
            <a:r>
              <a:rPr lang="en-US" dirty="0"/>
              <a:t>(4, </a:t>
            </a:r>
            <a:r>
              <a:rPr lang="ru-RU" dirty="0"/>
              <a:t>«Ботинки»</a:t>
            </a:r>
            <a:r>
              <a:rPr lang="en-US" dirty="0"/>
              <a:t>)</a:t>
            </a:r>
            <a:endParaRPr lang="ru-RU" dirty="0"/>
          </a:p>
          <a:p>
            <a:endParaRPr lang="ru-RU" dirty="0"/>
          </a:p>
          <a:p>
            <a:pPr lvl="0"/>
            <a:r>
              <a:rPr lang="ru-RU" b="1" dirty="0" err="1"/>
              <a:t>Remove</a:t>
            </a:r>
            <a:r>
              <a:rPr lang="ru-RU" b="1" dirty="0"/>
              <a:t>(</a:t>
            </a:r>
            <a:r>
              <a:rPr lang="ru-RU" b="1" dirty="0" err="1"/>
              <a:t>item</a:t>
            </a:r>
            <a:r>
              <a:rPr lang="ru-RU" b="1" dirty="0"/>
              <a:t>) </a:t>
            </a:r>
            <a:r>
              <a:rPr lang="ru-RU" dirty="0"/>
              <a:t>— удалить элемент</a:t>
            </a:r>
          </a:p>
          <a:p>
            <a:pPr marL="0" indent="0">
              <a:buNone/>
            </a:pPr>
            <a:r>
              <a:rPr lang="ru-RU" dirty="0" err="1"/>
              <a:t>products.Remove</a:t>
            </a:r>
            <a:r>
              <a:rPr lang="ru-RU" dirty="0"/>
              <a:t>(</a:t>
            </a:r>
            <a:r>
              <a:rPr lang="ru-RU" dirty="0" err="1"/>
              <a:t>product</a:t>
            </a:r>
            <a:r>
              <a:rPr lang="ru-RU" dirty="0"/>
              <a:t>);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5561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AABA37-59E7-4C5B-B11C-78509DB2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 Коллекциями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525020-E779-46ED-B959-477CC01E8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 err="1"/>
              <a:t>Clear</a:t>
            </a:r>
            <a:r>
              <a:rPr lang="ru-RU" dirty="0"/>
              <a:t>() — очистить весь список</a:t>
            </a:r>
          </a:p>
          <a:p>
            <a:pPr marL="0" indent="0">
              <a:buNone/>
            </a:pPr>
            <a:r>
              <a:rPr lang="ru-RU" dirty="0" err="1"/>
              <a:t>products.Clear</a:t>
            </a:r>
            <a:r>
              <a:rPr lang="ru-RU" dirty="0"/>
              <a:t>();</a:t>
            </a:r>
          </a:p>
          <a:p>
            <a:endParaRPr lang="ru-RU" dirty="0"/>
          </a:p>
          <a:p>
            <a:pPr lvl="0"/>
            <a:r>
              <a:rPr lang="ru-RU" dirty="0" err="1"/>
              <a:t>Count</a:t>
            </a:r>
            <a:r>
              <a:rPr lang="ru-RU" dirty="0"/>
              <a:t> — количество элементов</a:t>
            </a:r>
          </a:p>
          <a:p>
            <a:pPr marL="0" indent="0">
              <a:buNone/>
            </a:pPr>
            <a:r>
              <a:rPr lang="en-US" dirty="0" err="1"/>
              <a:t>Products.Count</a:t>
            </a:r>
            <a:r>
              <a:rPr lang="en-US" dirty="0"/>
              <a:t>;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836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744109-44AA-4BC5-BDB5-208B87AB7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 WPF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6A9687-8061-4D30-8DE9-F14107B0F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dirty="0"/>
              <a:t>Для вывода данных из БД используется ПРИВЯЗКА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2950442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3FB01-B177-4F9C-80A7-1E30B6AB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Привязка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50E17-63F0-46F3-A5F8-E3FD433C1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dirty="0"/>
              <a:t>Привязка подразумевает взаимодействие двух объектов: источника и приемника. Объект-приемник создает привязку к определенному свойству объекта-источника. В случае модификации объекта-источника, объект-приемник также будет модифицирован.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795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3FB01-B177-4F9C-80A7-1E30B6AB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Привязка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50E17-63F0-46F3-A5F8-E3FD433C1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400" dirty="0"/>
              <a:t>Пользовательский интерфейс автоматически берёт данные из объекта и обновляется при их изменении.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85235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3FB01-B177-4F9C-80A7-1E30B6AB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Привязка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50E17-63F0-46F3-A5F8-E3FD433C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51188"/>
            <a:ext cx="10515600" cy="10684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&lt;</a:t>
            </a:r>
            <a:r>
              <a:rPr lang="en-US" sz="4400" dirty="0" err="1"/>
              <a:t>TextBlock</a:t>
            </a:r>
            <a:r>
              <a:rPr lang="en-US" sz="4400" dirty="0"/>
              <a:t> Text="{Binding </a:t>
            </a:r>
            <a:r>
              <a:rPr lang="en-US" sz="4400" dirty="0" err="1"/>
              <a:t>FullName</a:t>
            </a:r>
            <a:r>
              <a:rPr lang="en-US" sz="4400" dirty="0"/>
              <a:t>}" /&gt;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400254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Тема Office">
  <a:themeElements>
    <a:clrScheme name="Аспект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вроде классно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</TotalTime>
  <Words>1460</Words>
  <Application>Microsoft Office PowerPoint</Application>
  <PresentationFormat>Широкоэкранный</PresentationFormat>
  <Paragraphs>248</Paragraphs>
  <Slides>67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67</vt:i4>
      </vt:variant>
    </vt:vector>
  </HeadingPairs>
  <TitlesOfParts>
    <vt:vector size="73" baseType="lpstr">
      <vt:lpstr>Arial</vt:lpstr>
      <vt:lpstr>Calibri</vt:lpstr>
      <vt:lpstr>Garamond</vt:lpstr>
      <vt:lpstr>Symbol</vt:lpstr>
      <vt:lpstr>Times New Roman</vt:lpstr>
      <vt:lpstr>Тема Office</vt:lpstr>
      <vt:lpstr>Entity Framework</vt:lpstr>
      <vt:lpstr>Презентация PowerPoint</vt:lpstr>
      <vt:lpstr>MySQL.Data</vt:lpstr>
      <vt:lpstr>MySQL.Data</vt:lpstr>
      <vt:lpstr>Презентация PowerPoint</vt:lpstr>
      <vt:lpstr>Понятие EF</vt:lpstr>
      <vt:lpstr>Понятие EF</vt:lpstr>
      <vt:lpstr>Понятие EF</vt:lpstr>
      <vt:lpstr>Компоненты EF</vt:lpstr>
      <vt:lpstr>Презентация PowerPoint</vt:lpstr>
      <vt:lpstr>Компоненты EF</vt:lpstr>
      <vt:lpstr>Компоненты EF</vt:lpstr>
      <vt:lpstr>Компоненты EF</vt:lpstr>
      <vt:lpstr>Компоненты EF</vt:lpstr>
      <vt:lpstr>Компоненты EF</vt:lpstr>
      <vt:lpstr>Подходы EF</vt:lpstr>
      <vt:lpstr>Code First</vt:lpstr>
      <vt:lpstr>Code First</vt:lpstr>
      <vt:lpstr>Code First</vt:lpstr>
      <vt:lpstr>Code First</vt:lpstr>
      <vt:lpstr>Code First</vt:lpstr>
      <vt:lpstr>Code First</vt:lpstr>
      <vt:lpstr>Code First</vt:lpstr>
      <vt:lpstr>Code First</vt:lpstr>
      <vt:lpstr>Code First</vt:lpstr>
      <vt:lpstr>DataBase First</vt:lpstr>
      <vt:lpstr>DataBase First</vt:lpstr>
      <vt:lpstr>DataBase First</vt:lpstr>
      <vt:lpstr>DataBase First</vt:lpstr>
      <vt:lpstr>DataBase First</vt:lpstr>
      <vt:lpstr>DataBase First</vt:lpstr>
      <vt:lpstr>Необходимые пакеты</vt:lpstr>
      <vt:lpstr>Необходимые пакеты</vt:lpstr>
      <vt:lpstr>Презентация PowerPoint</vt:lpstr>
      <vt:lpstr>Необходимые пакеты</vt:lpstr>
      <vt:lpstr>Команды для работы с БД</vt:lpstr>
      <vt:lpstr>LINQ</vt:lpstr>
      <vt:lpstr>LINQ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Команды для работы с БД</vt:lpstr>
      <vt:lpstr>CRUD</vt:lpstr>
      <vt:lpstr>Read</vt:lpstr>
      <vt:lpstr>Create</vt:lpstr>
      <vt:lpstr>Create</vt:lpstr>
      <vt:lpstr>Update</vt:lpstr>
      <vt:lpstr>Update</vt:lpstr>
      <vt:lpstr>Delete</vt:lpstr>
      <vt:lpstr>Delete</vt:lpstr>
      <vt:lpstr>Презентация PowerPoint</vt:lpstr>
      <vt:lpstr>EF WPF</vt:lpstr>
      <vt:lpstr>Коллекции</vt:lpstr>
      <vt:lpstr>Коллекции</vt:lpstr>
      <vt:lpstr>Списки</vt:lpstr>
      <vt:lpstr>OBSERVABLE COLLECTION</vt:lpstr>
      <vt:lpstr>Операции с Коллекциями</vt:lpstr>
      <vt:lpstr>Операции с Коллекциями</vt:lpstr>
      <vt:lpstr>EF WPF</vt:lpstr>
      <vt:lpstr>Привязка данных</vt:lpstr>
      <vt:lpstr>Привязка данных</vt:lpstr>
      <vt:lpstr>Привязка данных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 светлый, шаблон презентации с сайта presentation-creation.ru</dc:title>
  <dc:creator>User Obstinate</dc:creator>
  <cp:lastModifiedBy>жяба</cp:lastModifiedBy>
  <cp:revision>50</cp:revision>
  <dcterms:created xsi:type="dcterms:W3CDTF">2024-11-04T08:17:15Z</dcterms:created>
  <dcterms:modified xsi:type="dcterms:W3CDTF">2026-02-23T19:48:19Z</dcterms:modified>
</cp:coreProperties>
</file>