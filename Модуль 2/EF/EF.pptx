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333" r:id="rId4"/>
    <p:sldId id="334" r:id="rId5"/>
    <p:sldId id="292" r:id="rId6"/>
    <p:sldId id="336" r:id="rId7"/>
    <p:sldId id="335" r:id="rId8"/>
    <p:sldId id="338" r:id="rId9"/>
    <p:sldId id="337" r:id="rId10"/>
    <p:sldId id="339" r:id="rId11"/>
    <p:sldId id="340" r:id="rId12"/>
    <p:sldId id="341" r:id="rId13"/>
    <p:sldId id="342" r:id="rId14"/>
    <p:sldId id="343" r:id="rId15"/>
    <p:sldId id="348" r:id="rId16"/>
    <p:sldId id="344" r:id="rId17"/>
    <p:sldId id="345" r:id="rId18"/>
    <p:sldId id="346" r:id="rId19"/>
    <p:sldId id="347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62" r:id="rId31"/>
    <p:sldId id="361" r:id="rId32"/>
    <p:sldId id="365" r:id="rId33"/>
    <p:sldId id="359" r:id="rId34"/>
    <p:sldId id="363" r:id="rId35"/>
    <p:sldId id="360" r:id="rId36"/>
    <p:sldId id="364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81" r:id="rId46"/>
    <p:sldId id="374" r:id="rId47"/>
    <p:sldId id="375" r:id="rId48"/>
    <p:sldId id="376" r:id="rId49"/>
    <p:sldId id="377" r:id="rId50"/>
    <p:sldId id="378" r:id="rId51"/>
    <p:sldId id="379" r:id="rId52"/>
    <p:sldId id="380" r:id="rId5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94" y="9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17.02.2026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5" name="Google Shape;21;p3">
            <a:extLst>
              <a:ext uri="{FF2B5EF4-FFF2-40B4-BE49-F238E27FC236}">
                <a16:creationId xmlns:a16="http://schemas.microsoft.com/office/drawing/2014/main" id="{F25BF6C3-6CEF-4217-9A35-451DBD2B05EA}"/>
              </a:ext>
            </a:extLst>
          </p:cNvPr>
          <p:cNvSpPr/>
          <p:nvPr userDrawn="1"/>
        </p:nvSpPr>
        <p:spPr>
          <a:xfrm rot="767936" flipH="1">
            <a:off x="7311027" y="5562092"/>
            <a:ext cx="5658256" cy="3086393"/>
          </a:xfrm>
          <a:custGeom>
            <a:avLst/>
            <a:gdLst>
              <a:gd name="connsiteX0" fmla="*/ 54690 w 86090"/>
              <a:gd name="connsiteY0" fmla="*/ 116 h 53568"/>
              <a:gd name="connsiteX1" fmla="*/ 43799 w 86090"/>
              <a:gd name="connsiteY1" fmla="*/ 3420 h 53568"/>
              <a:gd name="connsiteX2" fmla="*/ 23867 w 86090"/>
              <a:gd name="connsiteY2" fmla="*/ 26384 h 53568"/>
              <a:gd name="connsiteX3" fmla="*/ 15443 w 86090"/>
              <a:gd name="connsiteY3" fmla="*/ 30570 h 53568"/>
              <a:gd name="connsiteX4" fmla="*/ 14517 w 86090"/>
              <a:gd name="connsiteY4" fmla="*/ 30535 h 53568"/>
              <a:gd name="connsiteX5" fmla="*/ 11428 w 86090"/>
              <a:gd name="connsiteY5" fmla="*/ 30418 h 53568"/>
              <a:gd name="connsiteX6" fmla="*/ 39 w 86090"/>
              <a:gd name="connsiteY6" fmla="*/ 34114 h 53568"/>
              <a:gd name="connsiteX7" fmla="*/ 10831 w 86090"/>
              <a:gd name="connsiteY7" fmla="*/ 46041 h 53568"/>
              <a:gd name="connsiteX8" fmla="*/ 30398 w 86090"/>
              <a:gd name="connsiteY8" fmla="*/ 53568 h 53568"/>
              <a:gd name="connsiteX9" fmla="*/ 34419 w 86090"/>
              <a:gd name="connsiteY9" fmla="*/ 52929 h 53568"/>
              <a:gd name="connsiteX10" fmla="*/ 85987 w 86090"/>
              <a:gd name="connsiteY10" fmla="*/ 38125 h 53568"/>
              <a:gd name="connsiteX11" fmla="*/ 75901 w 86090"/>
              <a:gd name="connsiteY11" fmla="*/ 10688 h 53568"/>
              <a:gd name="connsiteX12" fmla="*/ 54690 w 86090"/>
              <a:gd name="connsiteY12" fmla="*/ 116 h 53568"/>
              <a:gd name="connsiteX0" fmla="*/ 54690 w 86090"/>
              <a:gd name="connsiteY0" fmla="*/ 0 h 53452"/>
              <a:gd name="connsiteX1" fmla="*/ 44407 w 86090"/>
              <a:gd name="connsiteY1" fmla="*/ 18431 h 53452"/>
              <a:gd name="connsiteX2" fmla="*/ 23867 w 86090"/>
              <a:gd name="connsiteY2" fmla="*/ 26268 h 53452"/>
              <a:gd name="connsiteX3" fmla="*/ 15443 w 86090"/>
              <a:gd name="connsiteY3" fmla="*/ 30454 h 53452"/>
              <a:gd name="connsiteX4" fmla="*/ 14517 w 86090"/>
              <a:gd name="connsiteY4" fmla="*/ 30419 h 53452"/>
              <a:gd name="connsiteX5" fmla="*/ 11428 w 86090"/>
              <a:gd name="connsiteY5" fmla="*/ 30302 h 53452"/>
              <a:gd name="connsiteX6" fmla="*/ 39 w 86090"/>
              <a:gd name="connsiteY6" fmla="*/ 33998 h 53452"/>
              <a:gd name="connsiteX7" fmla="*/ 10831 w 86090"/>
              <a:gd name="connsiteY7" fmla="*/ 45925 h 53452"/>
              <a:gd name="connsiteX8" fmla="*/ 30398 w 86090"/>
              <a:gd name="connsiteY8" fmla="*/ 53452 h 53452"/>
              <a:gd name="connsiteX9" fmla="*/ 34419 w 86090"/>
              <a:gd name="connsiteY9" fmla="*/ 52813 h 53452"/>
              <a:gd name="connsiteX10" fmla="*/ 85987 w 86090"/>
              <a:gd name="connsiteY10" fmla="*/ 38009 h 53452"/>
              <a:gd name="connsiteX11" fmla="*/ 75901 w 86090"/>
              <a:gd name="connsiteY11" fmla="*/ 10572 h 53452"/>
              <a:gd name="connsiteX12" fmla="*/ 54690 w 86090"/>
              <a:gd name="connsiteY12" fmla="*/ 0 h 53452"/>
              <a:gd name="connsiteX0" fmla="*/ 61755 w 86139"/>
              <a:gd name="connsiteY0" fmla="*/ 135 h 46986"/>
              <a:gd name="connsiteX1" fmla="*/ 44407 w 86139"/>
              <a:gd name="connsiteY1" fmla="*/ 11965 h 46986"/>
              <a:gd name="connsiteX2" fmla="*/ 23867 w 86139"/>
              <a:gd name="connsiteY2" fmla="*/ 19802 h 46986"/>
              <a:gd name="connsiteX3" fmla="*/ 15443 w 86139"/>
              <a:gd name="connsiteY3" fmla="*/ 23988 h 46986"/>
              <a:gd name="connsiteX4" fmla="*/ 14517 w 86139"/>
              <a:gd name="connsiteY4" fmla="*/ 23953 h 46986"/>
              <a:gd name="connsiteX5" fmla="*/ 11428 w 86139"/>
              <a:gd name="connsiteY5" fmla="*/ 23836 h 46986"/>
              <a:gd name="connsiteX6" fmla="*/ 39 w 86139"/>
              <a:gd name="connsiteY6" fmla="*/ 27532 h 46986"/>
              <a:gd name="connsiteX7" fmla="*/ 10831 w 86139"/>
              <a:gd name="connsiteY7" fmla="*/ 39459 h 46986"/>
              <a:gd name="connsiteX8" fmla="*/ 30398 w 86139"/>
              <a:gd name="connsiteY8" fmla="*/ 46986 h 46986"/>
              <a:gd name="connsiteX9" fmla="*/ 34419 w 86139"/>
              <a:gd name="connsiteY9" fmla="*/ 46347 h 46986"/>
              <a:gd name="connsiteX10" fmla="*/ 85987 w 86139"/>
              <a:gd name="connsiteY10" fmla="*/ 31543 h 46986"/>
              <a:gd name="connsiteX11" fmla="*/ 75901 w 86139"/>
              <a:gd name="connsiteY11" fmla="*/ 4106 h 46986"/>
              <a:gd name="connsiteX12" fmla="*/ 61755 w 86139"/>
              <a:gd name="connsiteY12" fmla="*/ 135 h 4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139" h="46986" extrusionOk="0">
                <a:moveTo>
                  <a:pt x="61755" y="135"/>
                </a:moveTo>
                <a:cubicBezTo>
                  <a:pt x="58273" y="135"/>
                  <a:pt x="50722" y="8687"/>
                  <a:pt x="44407" y="11965"/>
                </a:cubicBezTo>
                <a:cubicBezTo>
                  <a:pt x="38092" y="15243"/>
                  <a:pt x="28694" y="17798"/>
                  <a:pt x="23867" y="19802"/>
                </a:cubicBezTo>
                <a:cubicBezTo>
                  <a:pt x="19040" y="21806"/>
                  <a:pt x="17001" y="23296"/>
                  <a:pt x="15443" y="23988"/>
                </a:cubicBezTo>
                <a:cubicBezTo>
                  <a:pt x="13885" y="24680"/>
                  <a:pt x="14837" y="23976"/>
                  <a:pt x="14517" y="23953"/>
                </a:cubicBezTo>
                <a:cubicBezTo>
                  <a:pt x="13445" y="23874"/>
                  <a:pt x="12413" y="23836"/>
                  <a:pt x="11428" y="23836"/>
                </a:cubicBezTo>
                <a:cubicBezTo>
                  <a:pt x="4945" y="23836"/>
                  <a:pt x="511" y="25459"/>
                  <a:pt x="39" y="27532"/>
                </a:cubicBezTo>
                <a:cubicBezTo>
                  <a:pt x="-501" y="29917"/>
                  <a:pt x="4649" y="36749"/>
                  <a:pt x="10831" y="39459"/>
                </a:cubicBezTo>
                <a:cubicBezTo>
                  <a:pt x="16017" y="41735"/>
                  <a:pt x="23339" y="46986"/>
                  <a:pt x="30398" y="46986"/>
                </a:cubicBezTo>
                <a:cubicBezTo>
                  <a:pt x="31754" y="46986"/>
                  <a:pt x="33100" y="46792"/>
                  <a:pt x="34419" y="46347"/>
                </a:cubicBezTo>
                <a:cubicBezTo>
                  <a:pt x="42608" y="43581"/>
                  <a:pt x="84686" y="49600"/>
                  <a:pt x="85987" y="31543"/>
                </a:cubicBezTo>
                <a:cubicBezTo>
                  <a:pt x="87289" y="13486"/>
                  <a:pt x="79940" y="9341"/>
                  <a:pt x="75901" y="4106"/>
                </a:cubicBezTo>
                <a:cubicBezTo>
                  <a:pt x="71862" y="-1129"/>
                  <a:pt x="73558" y="135"/>
                  <a:pt x="61755" y="135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2;p3">
            <a:extLst>
              <a:ext uri="{FF2B5EF4-FFF2-40B4-BE49-F238E27FC236}">
                <a16:creationId xmlns:a16="http://schemas.microsoft.com/office/drawing/2014/main" id="{D7C44C21-AA69-4906-8446-8466CB266AF9}"/>
              </a:ext>
            </a:extLst>
          </p:cNvPr>
          <p:cNvSpPr/>
          <p:nvPr userDrawn="1"/>
        </p:nvSpPr>
        <p:spPr>
          <a:xfrm rot="10516523" flipH="1">
            <a:off x="6957725" y="5059957"/>
            <a:ext cx="6478482" cy="3219134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31457"/>
              <a:gd name="connsiteX1" fmla="*/ 58067 w 73424"/>
              <a:gd name="connsiteY1" fmla="*/ 19389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29376"/>
              <a:gd name="connsiteX1" fmla="*/ 58067 w 73424"/>
              <a:gd name="connsiteY1" fmla="*/ 19389 h 29376"/>
              <a:gd name="connsiteX2" fmla="*/ 24778 w 73424"/>
              <a:gd name="connsiteY2" fmla="*/ 25788 h 29376"/>
              <a:gd name="connsiteX3" fmla="*/ 16974 w 73424"/>
              <a:gd name="connsiteY3" fmla="*/ 29025 h 29376"/>
              <a:gd name="connsiteX4" fmla="*/ 0 w 73424"/>
              <a:gd name="connsiteY4" fmla="*/ 18035 h 29376"/>
              <a:gd name="connsiteX0" fmla="*/ 67041 w 67041"/>
              <a:gd name="connsiteY0" fmla="*/ 0 h 29376"/>
              <a:gd name="connsiteX1" fmla="*/ 51684 w 67041"/>
              <a:gd name="connsiteY1" fmla="*/ 19389 h 29376"/>
              <a:gd name="connsiteX2" fmla="*/ 18395 w 67041"/>
              <a:gd name="connsiteY2" fmla="*/ 25788 h 29376"/>
              <a:gd name="connsiteX3" fmla="*/ 10591 w 67041"/>
              <a:gd name="connsiteY3" fmla="*/ 29025 h 29376"/>
              <a:gd name="connsiteX4" fmla="*/ 0 w 67041"/>
              <a:gd name="connsiteY4" fmla="*/ 10502 h 29376"/>
              <a:gd name="connsiteX0" fmla="*/ 67041 w 67041"/>
              <a:gd name="connsiteY0" fmla="*/ 0 h 27223"/>
              <a:gd name="connsiteX1" fmla="*/ 51684 w 67041"/>
              <a:gd name="connsiteY1" fmla="*/ 19389 h 27223"/>
              <a:gd name="connsiteX2" fmla="*/ 18395 w 67041"/>
              <a:gd name="connsiteY2" fmla="*/ 25788 h 27223"/>
              <a:gd name="connsiteX3" fmla="*/ 10214 w 67041"/>
              <a:gd name="connsiteY3" fmla="*/ 26197 h 27223"/>
              <a:gd name="connsiteX4" fmla="*/ 0 w 67041"/>
              <a:gd name="connsiteY4" fmla="*/ 10502 h 27223"/>
              <a:gd name="connsiteX0" fmla="*/ 67041 w 67041"/>
              <a:gd name="connsiteY0" fmla="*/ 0 h 28127"/>
              <a:gd name="connsiteX1" fmla="*/ 51684 w 67041"/>
              <a:gd name="connsiteY1" fmla="*/ 19389 h 28127"/>
              <a:gd name="connsiteX2" fmla="*/ 20086 w 67041"/>
              <a:gd name="connsiteY2" fmla="*/ 27221 h 28127"/>
              <a:gd name="connsiteX3" fmla="*/ 10214 w 67041"/>
              <a:gd name="connsiteY3" fmla="*/ 26197 h 28127"/>
              <a:gd name="connsiteX4" fmla="*/ 0 w 67041"/>
              <a:gd name="connsiteY4" fmla="*/ 10502 h 28127"/>
              <a:gd name="connsiteX0" fmla="*/ 67041 w 67041"/>
              <a:gd name="connsiteY0" fmla="*/ 0 h 27915"/>
              <a:gd name="connsiteX1" fmla="*/ 51684 w 67041"/>
              <a:gd name="connsiteY1" fmla="*/ 19389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7041 w 67041"/>
              <a:gd name="connsiteY0" fmla="*/ 0 h 27915"/>
              <a:gd name="connsiteX1" fmla="*/ 43220 w 67041"/>
              <a:gd name="connsiteY1" fmla="*/ 6935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0570 w 60570"/>
              <a:gd name="connsiteY0" fmla="*/ 0 h 30097"/>
              <a:gd name="connsiteX1" fmla="*/ 43220 w 60570"/>
              <a:gd name="connsiteY1" fmla="*/ 9117 h 30097"/>
              <a:gd name="connsiteX2" fmla="*/ 20086 w 60570"/>
              <a:gd name="connsiteY2" fmla="*/ 29403 h 30097"/>
              <a:gd name="connsiteX3" fmla="*/ 10984 w 60570"/>
              <a:gd name="connsiteY3" fmla="*/ 27315 h 30097"/>
              <a:gd name="connsiteX4" fmla="*/ 0 w 60570"/>
              <a:gd name="connsiteY4" fmla="*/ 12684 h 3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0" h="30097" fill="none" extrusionOk="0">
                <a:moveTo>
                  <a:pt x="60570" y="0"/>
                </a:moveTo>
                <a:cubicBezTo>
                  <a:pt x="60570" y="0"/>
                  <a:pt x="49967" y="4217"/>
                  <a:pt x="43220" y="9117"/>
                </a:cubicBezTo>
                <a:cubicBezTo>
                  <a:pt x="36473" y="14017"/>
                  <a:pt x="27832" y="27413"/>
                  <a:pt x="20086" y="29403"/>
                </a:cubicBezTo>
                <a:cubicBezTo>
                  <a:pt x="12340" y="31393"/>
                  <a:pt x="15114" y="28607"/>
                  <a:pt x="10984" y="27315"/>
                </a:cubicBezTo>
                <a:cubicBezTo>
                  <a:pt x="6854" y="26023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>
            <a:extLst>
              <a:ext uri="{FF2B5EF4-FFF2-40B4-BE49-F238E27FC236}">
                <a16:creationId xmlns:a16="http://schemas.microsoft.com/office/drawing/2014/main" id="{A62885B8-6DEC-4FA2-B9DD-29F52230D613}"/>
              </a:ext>
            </a:extLst>
          </p:cNvPr>
          <p:cNvSpPr/>
          <p:nvPr userDrawn="1"/>
        </p:nvSpPr>
        <p:spPr>
          <a:xfrm rot="5636608" flipH="1">
            <a:off x="-2453358" y="-3976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" fmla="*/ 55307 w 86160"/>
              <a:gd name="connsiteY0" fmla="*/ 18 h 50606"/>
              <a:gd name="connsiteX1" fmla="*/ 46385 w 86160"/>
              <a:gd name="connsiteY1" fmla="*/ 3060 h 50606"/>
              <a:gd name="connsiteX2" fmla="*/ 23250 w 86160"/>
              <a:gd name="connsiteY2" fmla="*/ 20903 h 50606"/>
              <a:gd name="connsiteX3" fmla="*/ 15443 w 86160"/>
              <a:gd name="connsiteY3" fmla="*/ 27608 h 50606"/>
              <a:gd name="connsiteX4" fmla="*/ 14517 w 86160"/>
              <a:gd name="connsiteY4" fmla="*/ 27573 h 50606"/>
              <a:gd name="connsiteX5" fmla="*/ 11428 w 86160"/>
              <a:gd name="connsiteY5" fmla="*/ 27456 h 50606"/>
              <a:gd name="connsiteX6" fmla="*/ 39 w 86160"/>
              <a:gd name="connsiteY6" fmla="*/ 31152 h 50606"/>
              <a:gd name="connsiteX7" fmla="*/ 10831 w 86160"/>
              <a:gd name="connsiteY7" fmla="*/ 43079 h 50606"/>
              <a:gd name="connsiteX8" fmla="*/ 30398 w 86160"/>
              <a:gd name="connsiteY8" fmla="*/ 50606 h 50606"/>
              <a:gd name="connsiteX9" fmla="*/ 34419 w 86160"/>
              <a:gd name="connsiteY9" fmla="*/ 49967 h 50606"/>
              <a:gd name="connsiteX10" fmla="*/ 85987 w 86160"/>
              <a:gd name="connsiteY10" fmla="*/ 35163 h 50606"/>
              <a:gd name="connsiteX11" fmla="*/ 75901 w 86160"/>
              <a:gd name="connsiteY11" fmla="*/ 7726 h 50606"/>
              <a:gd name="connsiteX12" fmla="*/ 55307 w 86160"/>
              <a:gd name="connsiteY12" fmla="*/ 18 h 50606"/>
              <a:gd name="connsiteX0" fmla="*/ 55307 w 79837"/>
              <a:gd name="connsiteY0" fmla="*/ 18 h 52262"/>
              <a:gd name="connsiteX1" fmla="*/ 46385 w 79837"/>
              <a:gd name="connsiteY1" fmla="*/ 3060 h 52262"/>
              <a:gd name="connsiteX2" fmla="*/ 23250 w 79837"/>
              <a:gd name="connsiteY2" fmla="*/ 20903 h 52262"/>
              <a:gd name="connsiteX3" fmla="*/ 15443 w 79837"/>
              <a:gd name="connsiteY3" fmla="*/ 27608 h 52262"/>
              <a:gd name="connsiteX4" fmla="*/ 14517 w 79837"/>
              <a:gd name="connsiteY4" fmla="*/ 27573 h 52262"/>
              <a:gd name="connsiteX5" fmla="*/ 11428 w 79837"/>
              <a:gd name="connsiteY5" fmla="*/ 27456 h 52262"/>
              <a:gd name="connsiteX6" fmla="*/ 39 w 79837"/>
              <a:gd name="connsiteY6" fmla="*/ 31152 h 52262"/>
              <a:gd name="connsiteX7" fmla="*/ 10831 w 79837"/>
              <a:gd name="connsiteY7" fmla="*/ 43079 h 52262"/>
              <a:gd name="connsiteX8" fmla="*/ 30398 w 79837"/>
              <a:gd name="connsiteY8" fmla="*/ 50606 h 52262"/>
              <a:gd name="connsiteX9" fmla="*/ 34419 w 79837"/>
              <a:gd name="connsiteY9" fmla="*/ 49967 h 52262"/>
              <a:gd name="connsiteX10" fmla="*/ 79229 w 79837"/>
              <a:gd name="connsiteY10" fmla="*/ 22039 h 52262"/>
              <a:gd name="connsiteX11" fmla="*/ 75901 w 79837"/>
              <a:gd name="connsiteY11" fmla="*/ 7726 h 52262"/>
              <a:gd name="connsiteX12" fmla="*/ 55307 w 79837"/>
              <a:gd name="connsiteY12" fmla="*/ 18 h 52262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14512 w 79832"/>
              <a:gd name="connsiteY4" fmla="*/ 27573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402" y="16812"/>
                  <a:pt x="23245" y="20903"/>
                </a:cubicBezTo>
                <a:cubicBezTo>
                  <a:pt x="18088" y="24994"/>
                  <a:pt x="22692" y="27608"/>
                  <a:pt x="15438" y="27608"/>
                </a:cubicBezTo>
                <a:cubicBezTo>
                  <a:pt x="15141" y="27608"/>
                  <a:pt x="14832" y="27596"/>
                  <a:pt x="14512" y="27573"/>
                </a:cubicBezTo>
                <a:cubicBezTo>
                  <a:pt x="13440" y="27494"/>
                  <a:pt x="12408" y="27456"/>
                  <a:pt x="11423" y="27456"/>
                </a:cubicBezTo>
                <a:cubicBezTo>
                  <a:pt x="4940" y="27456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>
            <a:extLst>
              <a:ext uri="{FF2B5EF4-FFF2-40B4-BE49-F238E27FC236}">
                <a16:creationId xmlns:a16="http://schemas.microsoft.com/office/drawing/2014/main" id="{86999DB2-B561-462F-932D-00FD467CF02F}"/>
              </a:ext>
            </a:extLst>
          </p:cNvPr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Google Shape;20;p3">
            <a:extLst>
              <a:ext uri="{FF2B5EF4-FFF2-40B4-BE49-F238E27FC236}">
                <a16:creationId xmlns:a16="http://schemas.microsoft.com/office/drawing/2014/main" id="{42B27CB7-B8F6-4150-82B0-1DA60E4ED577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1;p4">
            <a:extLst>
              <a:ext uri="{FF2B5EF4-FFF2-40B4-BE49-F238E27FC236}">
                <a16:creationId xmlns:a16="http://schemas.microsoft.com/office/drawing/2014/main" id="{3961D41C-692B-42A8-87F2-FC59DE6A9946}"/>
              </a:ext>
            </a:extLst>
          </p:cNvPr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8914 w 71064"/>
              <a:gd name="connsiteY7" fmla="*/ 79207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9225 w 71064"/>
              <a:gd name="connsiteY7" fmla="*/ 77558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Google Shape;20;p3">
            <a:extLst>
              <a:ext uri="{FF2B5EF4-FFF2-40B4-BE49-F238E27FC236}">
                <a16:creationId xmlns:a16="http://schemas.microsoft.com/office/drawing/2014/main" id="{BD2B567A-3974-49D9-9365-ABA029B9EE22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>
            <a:extLst>
              <a:ext uri="{FF2B5EF4-FFF2-40B4-BE49-F238E27FC236}">
                <a16:creationId xmlns:a16="http://schemas.microsoft.com/office/drawing/2014/main" id="{3661A48C-0581-4A50-81C7-B3B86E720CED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Google Shape;28;p3">
            <a:extLst>
              <a:ext uri="{FF2B5EF4-FFF2-40B4-BE49-F238E27FC236}">
                <a16:creationId xmlns:a16="http://schemas.microsoft.com/office/drawing/2014/main" id="{9B4CC580-A6B9-4823-A8D5-A4110779391A}"/>
              </a:ext>
            </a:extLst>
          </p:cNvPr>
          <p:cNvSpPr/>
          <p:nvPr userDrawn="1"/>
        </p:nvSpPr>
        <p:spPr>
          <a:xfrm>
            <a:off x="548048" y="1925876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Google Shape;28;p3">
            <a:extLst>
              <a:ext uri="{FF2B5EF4-FFF2-40B4-BE49-F238E27FC236}">
                <a16:creationId xmlns:a16="http://schemas.microsoft.com/office/drawing/2014/main" id="{A07208E9-A35F-4C3D-B0A4-99ABB5104050}"/>
              </a:ext>
            </a:extLst>
          </p:cNvPr>
          <p:cNvSpPr/>
          <p:nvPr userDrawn="1"/>
        </p:nvSpPr>
        <p:spPr>
          <a:xfrm>
            <a:off x="548048" y="3443495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Google Shape;28;p3">
            <a:extLst>
              <a:ext uri="{FF2B5EF4-FFF2-40B4-BE49-F238E27FC236}">
                <a16:creationId xmlns:a16="http://schemas.microsoft.com/office/drawing/2014/main" id="{9F9DA8D6-05BC-44F6-9B48-DF2A96D2D5A4}"/>
              </a:ext>
            </a:extLst>
          </p:cNvPr>
          <p:cNvSpPr/>
          <p:nvPr userDrawn="1"/>
        </p:nvSpPr>
        <p:spPr>
          <a:xfrm>
            <a:off x="548048" y="4961570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AD30BB36-1D6F-482F-B8DE-C6992517755C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158" y="2062162"/>
            <a:ext cx="9873006" cy="2387600"/>
          </a:xfrm>
        </p:spPr>
        <p:txBody>
          <a:bodyPr>
            <a:normAutofit fontScale="90000"/>
          </a:bodyPr>
          <a:lstStyle/>
          <a:p>
            <a:r>
              <a:rPr lang="en-US" sz="11500" dirty="0">
                <a:latin typeface="Garamond" panose="02020404030301010803" pitchFamily="18" charset="0"/>
              </a:rPr>
              <a:t>Entity Framework</a:t>
            </a:r>
            <a:endParaRPr lang="ru-RU" sz="11500" dirty="0">
              <a:latin typeface="Garamond" panose="02020404030301010803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D05AD-7622-41A5-8E0E-0363D37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Понятие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B0CF5-C2E7-4E01-A71D-07C9DEAF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Entity Framework (EF) — </a:t>
            </a:r>
            <a:r>
              <a:rPr lang="ru-RU" dirty="0"/>
              <a:t>это </a:t>
            </a:r>
            <a:r>
              <a:rPr lang="ru-RU" dirty="0" err="1"/>
              <a:t>объектно</a:t>
            </a:r>
            <a:r>
              <a:rPr lang="en-US" dirty="0"/>
              <a:t>-</a:t>
            </a:r>
            <a:r>
              <a:rPr lang="ru-RU" dirty="0"/>
              <a:t>ориентированная технология доступа к данным</a:t>
            </a:r>
            <a:r>
              <a:rPr lang="en-US" dirty="0"/>
              <a:t> (ORM, Object-Relational Mapping), </a:t>
            </a:r>
            <a:r>
              <a:rPr lang="ru-RU" dirty="0"/>
              <a:t>разработанная</a:t>
            </a:r>
            <a:r>
              <a:rPr lang="en-US" dirty="0"/>
              <a:t> Microsoft. </a:t>
            </a:r>
            <a:r>
              <a:rPr lang="ru-RU" dirty="0"/>
              <a:t>Она позволяет разработчикам работать с базами данных, используя объекты и классы C#, вместо написания SQL-запросов вручную.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34890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D05AD-7622-41A5-8E0E-0363D37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Понятие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B0CF5-C2E7-4E01-A71D-07C9DEAF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EF</a:t>
            </a:r>
            <a:r>
              <a:rPr lang="ru-RU" sz="3600" dirty="0"/>
              <a:t> позволяет:</a:t>
            </a:r>
          </a:p>
          <a:p>
            <a:pPr lvl="0"/>
            <a:r>
              <a:rPr lang="ru-RU" sz="3600" dirty="0"/>
              <a:t>Описывать структуру таблиц как </a:t>
            </a:r>
            <a:r>
              <a:rPr lang="en-US" sz="3600" dirty="0"/>
              <a:t>C</a:t>
            </a:r>
            <a:r>
              <a:rPr lang="ru-RU" sz="3600" dirty="0"/>
              <a:t>#-классы;</a:t>
            </a:r>
          </a:p>
          <a:p>
            <a:pPr lvl="0"/>
            <a:r>
              <a:rPr lang="ru-RU" sz="3600" dirty="0"/>
              <a:t>Выполнять запросы к БД через </a:t>
            </a:r>
            <a:r>
              <a:rPr lang="en-US" sz="3600" dirty="0"/>
              <a:t>LINQ</a:t>
            </a:r>
            <a:r>
              <a:rPr lang="ru-RU" sz="3600" dirty="0"/>
              <a:t>;</a:t>
            </a:r>
          </a:p>
          <a:p>
            <a:r>
              <a:rPr lang="ru-RU" sz="3600" dirty="0"/>
              <a:t>Автоматически создавать и обновлять схему базы данных.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404741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D05AD-7622-41A5-8E0E-0363D37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Понятие </a:t>
            </a:r>
            <a:r>
              <a:rPr lang="en-US" b="1" dirty="0"/>
              <a:t>EF</a:t>
            </a:r>
            <a:endParaRPr lang="ru-RU" b="1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DF942408-DEA1-400B-AD8D-1E73BEABE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856676"/>
              </p:ext>
            </p:extLst>
          </p:nvPr>
        </p:nvGraphicFramePr>
        <p:xfrm>
          <a:off x="1545997" y="2375555"/>
          <a:ext cx="8648258" cy="257286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4323666">
                  <a:extLst>
                    <a:ext uri="{9D8B030D-6E8A-4147-A177-3AD203B41FA5}">
                      <a16:colId xmlns:a16="http://schemas.microsoft.com/office/drawing/2014/main" val="3322168688"/>
                    </a:ext>
                  </a:extLst>
                </a:gridCol>
                <a:gridCol w="4324592">
                  <a:extLst>
                    <a:ext uri="{9D8B030D-6E8A-4147-A177-3AD203B41FA5}">
                      <a16:colId xmlns:a16="http://schemas.microsoft.com/office/drawing/2014/main" val="4152741284"/>
                    </a:ext>
                  </a:extLst>
                </a:gridCol>
              </a:tblGrid>
              <a:tr h="643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en-US" sz="2400" dirty="0">
                          <a:effectLst/>
                        </a:rPr>
                        <a:t>SQL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en-US" sz="2400">
                          <a:effectLst/>
                        </a:rPr>
                        <a:t>C#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8156483"/>
                  </a:ext>
                </a:extLst>
              </a:tr>
              <a:tr h="643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ru-RU" sz="2400" dirty="0">
                          <a:effectLst/>
                        </a:rPr>
                        <a:t>Таблица </a:t>
                      </a:r>
                      <a:r>
                        <a:rPr lang="en-US" sz="2400" dirty="0">
                          <a:effectLst/>
                        </a:rPr>
                        <a:t>Users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ru-RU" sz="2400" dirty="0">
                          <a:effectLst/>
                        </a:rPr>
                        <a:t>Класс </a:t>
                      </a:r>
                      <a:r>
                        <a:rPr lang="en-US" sz="2400" dirty="0">
                          <a:effectLst/>
                        </a:rPr>
                        <a:t>Users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7912274"/>
                  </a:ext>
                </a:extLst>
              </a:tr>
              <a:tr h="643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ru-RU" sz="2400">
                          <a:effectLst/>
                        </a:rPr>
                        <a:t>Поле </a:t>
                      </a:r>
                      <a:r>
                        <a:rPr lang="en-US" sz="2400">
                          <a:effectLst/>
                        </a:rPr>
                        <a:t>Name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ru-RU" sz="2400" dirty="0">
                          <a:effectLst/>
                        </a:rPr>
                        <a:t>Свойство </a:t>
                      </a:r>
                      <a:r>
                        <a:rPr lang="en-US" sz="2400" dirty="0">
                          <a:effectLst/>
                        </a:rPr>
                        <a:t>Name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1304657"/>
                  </a:ext>
                </a:extLst>
              </a:tr>
              <a:tr h="643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ru-RU" sz="2400">
                          <a:effectLst/>
                        </a:rPr>
                        <a:t>Строка в таблице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90170" algn="l"/>
                        </a:tabLst>
                      </a:pPr>
                      <a:r>
                        <a:rPr lang="ru-RU" sz="2400" dirty="0">
                          <a:effectLst/>
                        </a:rPr>
                        <a:t>Объект класса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898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41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Компоненты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 err="1"/>
              <a:t>DbContext</a:t>
            </a:r>
            <a:endParaRPr lang="ru-RU" b="1" dirty="0"/>
          </a:p>
          <a:p>
            <a:pPr marL="0" lvl="0" indent="0">
              <a:buNone/>
            </a:pPr>
            <a:endParaRPr lang="ru-RU" b="1" dirty="0"/>
          </a:p>
          <a:p>
            <a:pPr marL="0" lvl="0" indent="0">
              <a:buNone/>
            </a:pPr>
            <a:r>
              <a:rPr lang="ru-RU" dirty="0"/>
              <a:t>Контекст подключения к БД и управления сущностями</a:t>
            </a:r>
          </a:p>
        </p:txBody>
      </p:sp>
    </p:spTree>
    <p:extLst>
      <p:ext uri="{BB962C8B-B14F-4D97-AF65-F5344CB8AC3E}">
        <p14:creationId xmlns:p14="http://schemas.microsoft.com/office/powerpoint/2010/main" val="133673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Компоненты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 err="1"/>
              <a:t>DbContext</a:t>
            </a:r>
            <a:endParaRPr lang="ru-RU" b="1" dirty="0"/>
          </a:p>
          <a:p>
            <a:pPr marL="0" lvl="0" indent="0">
              <a:buNone/>
            </a:pPr>
            <a:endParaRPr lang="ru-RU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7F2CF5-38D9-4F8D-AE9A-FB7F09232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2371099"/>
            <a:ext cx="1206033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6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Компоненты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 err="1"/>
              <a:t>DbSet</a:t>
            </a:r>
            <a:r>
              <a:rPr lang="en-US" b="1" dirty="0"/>
              <a:t>&lt;T&gt;</a:t>
            </a:r>
            <a:endParaRPr lang="ru-RU" dirty="0"/>
          </a:p>
          <a:p>
            <a:pPr marL="0" lv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 (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сущностей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289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Компоненты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 err="1"/>
              <a:t>DbSet</a:t>
            </a:r>
            <a:r>
              <a:rPr lang="en-US" b="1" dirty="0"/>
              <a:t>&lt;T&gt;</a:t>
            </a:r>
            <a:endParaRPr lang="ru-RU" dirty="0"/>
          </a:p>
          <a:p>
            <a:pPr marL="0" lv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 (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сущностей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public virtual </a:t>
            </a:r>
            <a:r>
              <a:rPr lang="en-US" b="1" dirty="0" err="1"/>
              <a:t>DbSet</a:t>
            </a:r>
            <a:r>
              <a:rPr lang="en-US" b="1" dirty="0"/>
              <a:t>&lt;Track&gt; Tracks { get; set; 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5870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Компоненты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/>
              <a:t>Сущности (</a:t>
            </a:r>
            <a:r>
              <a:rPr lang="en-US" b="1" dirty="0"/>
              <a:t>Entities</a:t>
            </a:r>
            <a:r>
              <a:rPr lang="ru-RU" b="1" dirty="0"/>
              <a:t>)</a:t>
            </a:r>
            <a:endParaRPr lang="ru-RU" dirty="0"/>
          </a:p>
          <a:p>
            <a:pPr marL="0" lv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dirty="0"/>
              <a:t>Описывают таблицы БД через классы C#</a:t>
            </a:r>
          </a:p>
        </p:txBody>
      </p:sp>
    </p:spTree>
    <p:extLst>
      <p:ext uri="{BB962C8B-B14F-4D97-AF65-F5344CB8AC3E}">
        <p14:creationId xmlns:p14="http://schemas.microsoft.com/office/powerpoint/2010/main" val="288635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Компоненты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/>
              <a:t>Сущности (</a:t>
            </a:r>
            <a:r>
              <a:rPr lang="en-US" b="1" dirty="0"/>
              <a:t>Entities</a:t>
            </a:r>
            <a:r>
              <a:rPr lang="ru-RU" b="1" dirty="0"/>
              <a:t>)</a:t>
            </a:r>
            <a:endParaRPr lang="ru-RU" dirty="0"/>
          </a:p>
          <a:p>
            <a:pPr marL="0" lvl="0" indent="0">
              <a:buNone/>
            </a:pPr>
            <a:endParaRPr lang="ru-RU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96EBC1-430B-478C-86CD-09DF57BE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676" y="1333922"/>
            <a:ext cx="5934903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8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6966A-47D5-4190-9027-02077DB0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Подходы </a:t>
            </a:r>
            <a:r>
              <a:rPr lang="en-US" b="1" dirty="0"/>
              <a:t>EF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8DB4B-E895-4BB0-951E-85583EEB0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Code First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Сначала пишутся классы, </a:t>
            </a:r>
            <a:r>
              <a:rPr lang="en-US" dirty="0"/>
              <a:t>EF</a:t>
            </a:r>
            <a:r>
              <a:rPr lang="ru-RU" dirty="0"/>
              <a:t> создаёт БД</a:t>
            </a:r>
          </a:p>
          <a:p>
            <a:pPr marL="0" indent="0">
              <a:buNone/>
            </a:pPr>
            <a:endParaRPr lang="ru-RU" dirty="0"/>
          </a:p>
          <a:p>
            <a:pPr lvl="0"/>
            <a:r>
              <a:rPr lang="en-US" dirty="0"/>
              <a:t>Database First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Сначала создаётся БД, </a:t>
            </a:r>
            <a:r>
              <a:rPr lang="en-US" dirty="0"/>
              <a:t>EF</a:t>
            </a:r>
            <a:r>
              <a:rPr lang="ru-RU" dirty="0"/>
              <a:t> генерирует классы</a:t>
            </a:r>
          </a:p>
          <a:p>
            <a:pPr marL="0" indent="0">
              <a:buNone/>
            </a:pPr>
            <a:endParaRPr lang="ru-RU" dirty="0"/>
          </a:p>
          <a:p>
            <a:pPr lvl="0"/>
            <a:r>
              <a:rPr lang="en-US" dirty="0"/>
              <a:t>Model First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Используется дизайнер модели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495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0596F8-0763-41B7-9A58-D29089648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Сначала создаются обычные классы, описывается контекст данных, настраиваются связи. </a:t>
            </a:r>
          </a:p>
          <a:p>
            <a:pPr marL="0" indent="0">
              <a:buNone/>
            </a:pPr>
            <a:r>
              <a:rPr lang="ru-RU" b="1" dirty="0"/>
              <a:t>Базы данных на этом этапе ещё нет. </a:t>
            </a:r>
          </a:p>
          <a:p>
            <a:pPr marL="0" indent="0">
              <a:buNone/>
            </a:pP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на основе созданных классов сам генерирует структуру базы данных — таблицы, ключи, связи, индексы.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Разработчик вообще не пишет SQL, а только работает с объектами.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334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0596F8-0763-41B7-9A58-D29089648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переноса классов в таблицы БД используются </a:t>
            </a:r>
            <a:r>
              <a:rPr lang="ru-RU" b="1" dirty="0"/>
              <a:t>миграции</a:t>
            </a:r>
            <a:r>
              <a:rPr lang="ru-RU" dirty="0"/>
              <a:t> </a:t>
            </a:r>
            <a:r>
              <a:rPr lang="ru-RU" dirty="0">
                <a:sym typeface="Symbol" panose="05050102010706020507" pitchFamily="18" charset="2"/>
              </a:rPr>
              <a:t></a:t>
            </a:r>
            <a:r>
              <a:rPr lang="ru-RU" dirty="0"/>
              <a:t> механизм, который позволяет синхронизировать структуру базы данных с изменяющейся моделью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245354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5A5998-92C7-4A77-A0C5-FEBFF0C8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CE5BD0-C03B-4D46-AA09-E40E47F9B3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85"/>
          <a:stretch/>
        </p:blipFill>
        <p:spPr>
          <a:xfrm>
            <a:off x="251410" y="1866393"/>
            <a:ext cx="6422767" cy="43513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DD35EF-DA62-4E7F-B557-76D265ECD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177" y="1866393"/>
            <a:ext cx="5420481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1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5A5998-92C7-4A77-A0C5-FEBFF0C8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/>
              <a:t>public class </a:t>
            </a:r>
            <a:r>
              <a:rPr lang="en-US" sz="4400" dirty="0" err="1"/>
              <a:t>MusicDbContext</a:t>
            </a:r>
            <a:r>
              <a:rPr lang="en-US" sz="4400" dirty="0"/>
              <a:t> : </a:t>
            </a:r>
            <a:r>
              <a:rPr lang="en-US" sz="4400" dirty="0" err="1"/>
              <a:t>DbContext</a:t>
            </a:r>
            <a:endParaRPr lang="ru-RU" sz="4400" dirty="0"/>
          </a:p>
          <a:p>
            <a:pPr marL="0" indent="0">
              <a:buNone/>
            </a:pPr>
            <a:r>
              <a:rPr lang="en-US" sz="4400" dirty="0"/>
              <a:t>{</a:t>
            </a:r>
            <a:endParaRPr lang="ru-RU" sz="4400" dirty="0"/>
          </a:p>
          <a:p>
            <a:pPr marL="0" indent="0">
              <a:buNone/>
            </a:pPr>
            <a:r>
              <a:rPr lang="ru-RU" sz="4400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516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5A5998-92C7-4A77-A0C5-FEBFF0C8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D11F3B-55E8-408D-AF19-8B94C47F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82" y="2969646"/>
            <a:ext cx="11521235" cy="16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1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5A5998-92C7-4A77-A0C5-FEBFF0C8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0ADB85-5048-4600-8611-70E2B6D70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51" y="2650375"/>
            <a:ext cx="11379097" cy="288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3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5A5998-92C7-4A77-A0C5-FEBFF0C8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dirty="0" err="1"/>
              <a:t>dotnet</a:t>
            </a:r>
            <a:r>
              <a:rPr lang="ru-RU" sz="3600" dirty="0"/>
              <a:t> </a:t>
            </a:r>
            <a:r>
              <a:rPr lang="ru-RU" sz="3600" dirty="0" err="1"/>
              <a:t>ef</a:t>
            </a:r>
            <a:r>
              <a:rPr lang="ru-RU" sz="3600" dirty="0"/>
              <a:t> </a:t>
            </a:r>
            <a:r>
              <a:rPr lang="ru-RU" sz="3600" dirty="0" err="1"/>
              <a:t>migrations</a:t>
            </a:r>
            <a:r>
              <a:rPr lang="ru-RU" sz="3600" dirty="0"/>
              <a:t> </a:t>
            </a:r>
            <a:r>
              <a:rPr lang="ru-RU" sz="3600" dirty="0" err="1"/>
              <a:t>add</a:t>
            </a:r>
            <a:r>
              <a:rPr lang="ru-RU" sz="3600" dirty="0"/>
              <a:t> </a:t>
            </a:r>
            <a:r>
              <a:rPr lang="ru-RU" sz="3600" dirty="0" err="1"/>
              <a:t>Название_миграции</a:t>
            </a:r>
            <a:r>
              <a:rPr lang="ru-RU" sz="3600" dirty="0"/>
              <a:t> – создание миграции базы данных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 err="1"/>
              <a:t>dotnet</a:t>
            </a:r>
            <a:r>
              <a:rPr lang="ru-RU" sz="3600" dirty="0"/>
              <a:t> </a:t>
            </a:r>
            <a:r>
              <a:rPr lang="ru-RU" sz="3600" dirty="0" err="1"/>
              <a:t>ef</a:t>
            </a:r>
            <a:r>
              <a:rPr lang="ru-RU" sz="3600" dirty="0"/>
              <a:t> </a:t>
            </a:r>
            <a:r>
              <a:rPr lang="ru-RU" sz="3600" dirty="0" err="1"/>
              <a:t>database</a:t>
            </a:r>
            <a:r>
              <a:rPr lang="ru-RU" sz="3600" dirty="0"/>
              <a:t> </a:t>
            </a:r>
            <a:r>
              <a:rPr lang="ru-RU" sz="3600" dirty="0" err="1"/>
              <a:t>update</a:t>
            </a:r>
            <a:r>
              <a:rPr lang="ru-RU" sz="3600" dirty="0"/>
              <a:t> – применение последней созданной миграции к базе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279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First</a:t>
            </a:r>
            <a:endParaRPr lang="ru-RU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05D58E-4A22-430A-B817-4F4525663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02C036-4CFB-4EC8-9D0E-A31D8E1053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24621" y="1963957"/>
            <a:ext cx="8542757" cy="407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7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First</a:t>
            </a:r>
            <a:endParaRPr lang="ru-RU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05D58E-4A22-430A-B817-4F4525663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Сначала создается база данных, а код генерируется на основе её структуры. </a:t>
            </a:r>
          </a:p>
        </p:txBody>
      </p:sp>
    </p:spTree>
    <p:extLst>
      <p:ext uri="{BB962C8B-B14F-4D97-AF65-F5344CB8AC3E}">
        <p14:creationId xmlns:p14="http://schemas.microsoft.com/office/powerpoint/2010/main" val="91907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First</a:t>
            </a:r>
            <a:endParaRPr lang="ru-RU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05D58E-4A22-430A-B817-4F4525663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Перенос БД производится с помощью </a:t>
            </a:r>
            <a:r>
              <a:rPr lang="ru-RU" sz="3600" dirty="0" err="1"/>
              <a:t>скаффолдинга</a:t>
            </a:r>
            <a:r>
              <a:rPr lang="ru-RU" sz="3600" dirty="0"/>
              <a:t> (</a:t>
            </a:r>
            <a:r>
              <a:rPr lang="en-US" sz="3600" dirty="0"/>
              <a:t>Scaffold</a:t>
            </a:r>
            <a:r>
              <a:rPr lang="ru-RU" sz="3600" dirty="0"/>
              <a:t>) </a:t>
            </a:r>
            <a:r>
              <a:rPr lang="ru-RU" sz="3600" dirty="0">
                <a:sym typeface="Symbol" panose="05050102010706020507" pitchFamily="18" charset="2"/>
              </a:rPr>
              <a:t></a:t>
            </a:r>
            <a:r>
              <a:rPr lang="ru-RU" sz="3600" dirty="0"/>
              <a:t> метод автоматизированной генерации базовой структуры проекта или программного кода на основе моделей данных.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89573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D05F3DC-C802-4D8D-A47F-A4F9B0C8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C9D153-D2F1-4C6D-9FF1-38E9699940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89437" y="1568558"/>
            <a:ext cx="8804634" cy="460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1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D05F3DC-C802-4D8D-A47F-A4F9B0C8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000" dirty="0" err="1"/>
              <a:t>dotnet</a:t>
            </a:r>
            <a:r>
              <a:rPr lang="ru-RU" sz="4000" dirty="0"/>
              <a:t> </a:t>
            </a:r>
            <a:r>
              <a:rPr lang="ru-RU" sz="4000" dirty="0" err="1"/>
              <a:t>ef</a:t>
            </a:r>
            <a:r>
              <a:rPr lang="ru-RU" sz="4000" dirty="0"/>
              <a:t> </a:t>
            </a:r>
            <a:r>
              <a:rPr lang="ru-RU" sz="4000" dirty="0" err="1"/>
              <a:t>dbcontext</a:t>
            </a:r>
            <a:r>
              <a:rPr lang="ru-RU" sz="4000" dirty="0"/>
              <a:t> </a:t>
            </a:r>
            <a:r>
              <a:rPr lang="ru-RU" sz="4000" dirty="0" err="1"/>
              <a:t>scaffold</a:t>
            </a:r>
            <a:r>
              <a:rPr lang="ru-RU" sz="4000" dirty="0"/>
              <a:t> "строка соединения с базой данных" </a:t>
            </a:r>
            <a:r>
              <a:rPr lang="ru-RU" sz="4000" dirty="0" err="1"/>
              <a:t>Pomelo.EntityFrameworkCore.MySql</a:t>
            </a:r>
            <a:r>
              <a:rPr lang="ru-RU" sz="4000" dirty="0"/>
              <a:t> --</a:t>
            </a:r>
            <a:r>
              <a:rPr lang="ru-RU" sz="4000" dirty="0" err="1"/>
              <a:t>context-dir</a:t>
            </a:r>
            <a:r>
              <a:rPr lang="ru-RU" sz="4000" dirty="0"/>
              <a:t> </a:t>
            </a:r>
            <a:r>
              <a:rPr lang="ru-RU" sz="4000" dirty="0" err="1"/>
              <a:t>DbContexts</a:t>
            </a:r>
            <a:r>
              <a:rPr lang="ru-RU" sz="4000" dirty="0"/>
              <a:t> --</a:t>
            </a:r>
            <a:r>
              <a:rPr lang="ru-RU" sz="4000" dirty="0" err="1"/>
              <a:t>output-dir</a:t>
            </a:r>
            <a:r>
              <a:rPr lang="ru-RU" sz="4000" dirty="0"/>
              <a:t> </a:t>
            </a:r>
            <a:r>
              <a:rPr lang="ru-RU" sz="4000" dirty="0" err="1"/>
              <a:t>Entities</a:t>
            </a:r>
            <a:endParaRPr lang="ru-RU" sz="40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085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First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D05F3DC-C802-4D8D-A47F-A4F9B0C8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Строка подключения к БД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sz="3600" dirty="0"/>
              <a:t>server</a:t>
            </a:r>
            <a:r>
              <a:rPr lang="ru-RU" sz="3600" dirty="0"/>
              <a:t>=</a:t>
            </a:r>
            <a:r>
              <a:rPr lang="en-US" sz="3600" dirty="0"/>
              <a:t>localhost</a:t>
            </a:r>
            <a:r>
              <a:rPr lang="ru-RU" sz="3600" dirty="0"/>
              <a:t>; </a:t>
            </a:r>
            <a:r>
              <a:rPr lang="en-US" sz="3600" dirty="0"/>
              <a:t>user</a:t>
            </a:r>
            <a:r>
              <a:rPr lang="ru-RU" sz="3600" dirty="0"/>
              <a:t>=</a:t>
            </a:r>
            <a:r>
              <a:rPr lang="ru-RU" sz="3600" dirty="0" err="1"/>
              <a:t>имя_пользователя</a:t>
            </a:r>
            <a:r>
              <a:rPr lang="ru-RU" sz="3600" dirty="0"/>
              <a:t>; </a:t>
            </a:r>
            <a:r>
              <a:rPr lang="en-US" sz="3600" dirty="0"/>
              <a:t>password</a:t>
            </a:r>
            <a:r>
              <a:rPr lang="ru-RU" sz="3600" dirty="0"/>
              <a:t>=пароль; </a:t>
            </a:r>
            <a:r>
              <a:rPr lang="en-US" sz="3600" dirty="0" err="1"/>
              <a:t>databasae</a:t>
            </a:r>
            <a:r>
              <a:rPr lang="ru-RU" sz="3600" dirty="0"/>
              <a:t>=</a:t>
            </a:r>
            <a:r>
              <a:rPr lang="ru-RU" sz="3600" dirty="0" err="1"/>
              <a:t>название_бд</a:t>
            </a:r>
            <a:endParaRPr lang="ru-RU" sz="36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34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847C-BBD8-4649-8C9E-D48F66A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First</a:t>
            </a:r>
            <a:endParaRPr lang="ru-RU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34DA44-7450-48A5-AEAD-FBC41AF5A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B189E9-5674-497D-862D-481F0C0BE8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64545" y="1659011"/>
            <a:ext cx="6333978" cy="468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9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362CF-06E5-4DBC-8218-31042F540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/>
              <a:t>Для работы с базой данных используется </a:t>
            </a:r>
            <a:r>
              <a:rPr lang="en-US" sz="4000" b="1" dirty="0"/>
              <a:t>LINQ</a:t>
            </a:r>
            <a:endParaRPr lang="ru-RU" sz="4000" b="1" dirty="0"/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ru-RU" b="1" dirty="0"/>
              <a:t>LINQ</a:t>
            </a:r>
            <a:r>
              <a:rPr lang="ru-RU" dirty="0"/>
              <a:t> — это способ работать с данными как с базой данных, но прямо внутри C#.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6742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D58D6-484C-48FD-A383-28D521E9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LINQ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9BC9C0-F74C-4116-A9CD-F19E0212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(</a:t>
            </a:r>
            <a:r>
              <a:rPr lang="ru-RU" b="1" dirty="0" err="1"/>
              <a:t>Language-Integrated</a:t>
            </a:r>
            <a:r>
              <a:rPr lang="ru-RU" b="1" dirty="0"/>
              <a:t> </a:t>
            </a:r>
            <a:r>
              <a:rPr lang="ru-RU" b="1" dirty="0" err="1"/>
              <a:t>Query</a:t>
            </a:r>
            <a:r>
              <a:rPr lang="ru-RU" b="1" dirty="0"/>
              <a:t>)</a:t>
            </a:r>
            <a:r>
              <a:rPr lang="ru-RU" dirty="0"/>
              <a:t> представляет простой и удобный язык запросов к источнику данных. В качестве источника данных может выступать объект, реализующий интерфейс </a:t>
            </a:r>
            <a:r>
              <a:rPr lang="ru-RU" dirty="0" err="1"/>
              <a:t>IEnumerable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D58D6-484C-48FD-A383-28D521E9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LINQ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9BC9C0-F74C-4116-A9CD-F19E0212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// SQL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SELECT * FROM Products WHERE Price &gt; 1000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// C#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var products = </a:t>
            </a:r>
            <a:r>
              <a:rPr lang="en-US" dirty="0" err="1"/>
              <a:t>db.Products.Where</a:t>
            </a:r>
            <a:r>
              <a:rPr lang="en-US" dirty="0"/>
              <a:t>(p =&gt; </a:t>
            </a:r>
            <a:r>
              <a:rPr lang="en-US" dirty="0" err="1"/>
              <a:t>p.Price</a:t>
            </a:r>
            <a:r>
              <a:rPr lang="en-US" dirty="0"/>
              <a:t> &gt; 1000).</a:t>
            </a:r>
            <a:r>
              <a:rPr lang="en-US" dirty="0" err="1"/>
              <a:t>ToList</a:t>
            </a:r>
            <a:r>
              <a:rPr lang="en-US" dirty="0"/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517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362CF-06E5-4DBC-8218-31042F540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Where</a:t>
            </a:r>
            <a:endParaRPr lang="ru-RU" b="1" dirty="0"/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ru-RU" dirty="0"/>
              <a:t>Позволяет отобрать только те записи, которые соответствуют условию.</a:t>
            </a:r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en-US" dirty="0"/>
              <a:t>var </a:t>
            </a:r>
            <a:r>
              <a:rPr lang="en-US" dirty="0" err="1"/>
              <a:t>shortSongs</a:t>
            </a:r>
            <a:r>
              <a:rPr lang="en-US" dirty="0"/>
              <a:t> = </a:t>
            </a:r>
            <a:r>
              <a:rPr lang="en-US" dirty="0" err="1"/>
              <a:t>db.Tracks.Where</a:t>
            </a:r>
            <a:r>
              <a:rPr lang="en-US" dirty="0"/>
              <a:t>(t =&gt; </a:t>
            </a:r>
            <a:r>
              <a:rPr lang="en-US" dirty="0" err="1"/>
              <a:t>t.Duration</a:t>
            </a:r>
            <a:r>
              <a:rPr lang="en-US" dirty="0"/>
              <a:t> &lt; 180).</a:t>
            </a:r>
            <a:r>
              <a:rPr lang="en-US" dirty="0" err="1"/>
              <a:t>ToList</a:t>
            </a:r>
            <a:r>
              <a:rPr lang="en-US" dirty="0"/>
              <a:t>();</a:t>
            </a:r>
            <a:endParaRPr lang="ru-RU" dirty="0"/>
          </a:p>
          <a:p>
            <a:pPr marL="0" indent="0">
              <a:buNone/>
            </a:pP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59469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31A14B9-6C16-43E0-B485-3CF09B674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3EFC07-B8D8-4D69-B207-F3B11BD6C5BB}"/>
              </a:ext>
            </a:extLst>
          </p:cNvPr>
          <p:cNvPicPr/>
          <p:nvPr/>
        </p:nvPicPr>
        <p:blipFill rotWithShape="1">
          <a:blip r:embed="rId2"/>
          <a:srcRect l="-108" t="2401" r="82679" b="85251"/>
          <a:stretch/>
        </p:blipFill>
        <p:spPr bwMode="auto">
          <a:xfrm>
            <a:off x="1666973" y="2310243"/>
            <a:ext cx="8858053" cy="31855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023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362CF-06E5-4DBC-8218-31042F540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FirstOrDefault</a:t>
            </a:r>
            <a:endParaRPr lang="ru-RU" b="1" dirty="0"/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ru-RU" dirty="0"/>
              <a:t>Используется, когда нужна только первая запись, удовлетворяющая условию.</a:t>
            </a:r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en-US" dirty="0"/>
              <a:t>var </a:t>
            </a:r>
            <a:r>
              <a:rPr lang="en-US" dirty="0" err="1"/>
              <a:t>shortTrack</a:t>
            </a:r>
            <a:r>
              <a:rPr lang="en-US" dirty="0"/>
              <a:t> = </a:t>
            </a:r>
            <a:r>
              <a:rPr lang="en-US" dirty="0" err="1"/>
              <a:t>db.Tracks.FirstOrDefault</a:t>
            </a:r>
            <a:r>
              <a:rPr lang="en-US" dirty="0"/>
              <a:t>(t =&gt; </a:t>
            </a:r>
            <a:r>
              <a:rPr lang="en-US" dirty="0" err="1"/>
              <a:t>t.Duration</a:t>
            </a:r>
            <a:r>
              <a:rPr lang="en-US" dirty="0"/>
              <a:t> = 175);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107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29C127F-30CC-43BE-8F91-CB480F1E1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872C46-A7E5-4E08-9C29-06BE8E25BEFB}"/>
              </a:ext>
            </a:extLst>
          </p:cNvPr>
          <p:cNvPicPr/>
          <p:nvPr/>
        </p:nvPicPr>
        <p:blipFill rotWithShape="1">
          <a:blip r:embed="rId2"/>
          <a:srcRect t="87725" r="81272" b="3407"/>
          <a:stretch/>
        </p:blipFill>
        <p:spPr bwMode="auto">
          <a:xfrm>
            <a:off x="1842496" y="2920746"/>
            <a:ext cx="8507008" cy="2161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86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362CF-06E5-4DBC-8218-31042F540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OrderBy</a:t>
            </a:r>
            <a:endParaRPr lang="ru-RU" b="1" dirty="0"/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ru-RU" dirty="0"/>
              <a:t>Упорядочивает результат по возрастанию или убыванию.</a:t>
            </a:r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en-US" dirty="0"/>
              <a:t>var </a:t>
            </a:r>
            <a:r>
              <a:rPr lang="en-US" dirty="0" err="1"/>
              <a:t>sortedTracks</a:t>
            </a:r>
            <a:r>
              <a:rPr lang="en-US" dirty="0"/>
              <a:t> = </a:t>
            </a:r>
            <a:r>
              <a:rPr lang="en-US" dirty="0" err="1"/>
              <a:t>db.Tracks.OrderBy</a:t>
            </a:r>
            <a:r>
              <a:rPr lang="en-US" dirty="0"/>
              <a:t>(t =&gt; </a:t>
            </a:r>
            <a:r>
              <a:rPr lang="en-US" dirty="0" err="1"/>
              <a:t>t.Duration</a:t>
            </a:r>
            <a:r>
              <a:rPr lang="en-US" dirty="0"/>
              <a:t>).</a:t>
            </a:r>
            <a:r>
              <a:rPr lang="en-US" dirty="0" err="1"/>
              <a:t>ToList</a:t>
            </a:r>
            <a:r>
              <a:rPr lang="en-US" dirty="0"/>
              <a:t>();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var </a:t>
            </a:r>
            <a:r>
              <a:rPr lang="en-US" dirty="0" err="1"/>
              <a:t>sortedTracksDesc</a:t>
            </a:r>
            <a:r>
              <a:rPr lang="en-US" dirty="0"/>
              <a:t> = </a:t>
            </a:r>
            <a:r>
              <a:rPr lang="en-US" dirty="0" err="1"/>
              <a:t>db.Tracks.OrderByDescending</a:t>
            </a:r>
            <a:r>
              <a:rPr lang="en-US" dirty="0"/>
              <a:t>(t =&gt; </a:t>
            </a:r>
            <a:r>
              <a:rPr lang="en-US" dirty="0" err="1"/>
              <a:t>t.Duration</a:t>
            </a:r>
            <a:r>
              <a:rPr lang="en-US" dirty="0"/>
              <a:t>).</a:t>
            </a:r>
            <a:r>
              <a:rPr lang="en-US" dirty="0" err="1"/>
              <a:t>ToList</a:t>
            </a:r>
            <a:r>
              <a:rPr lang="en-US" dirty="0"/>
              <a:t>(); 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38766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2C4C089-3F0E-422C-8BD4-63A29538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8BD565-3E02-499B-99CE-F04EAC738C7A}"/>
              </a:ext>
            </a:extLst>
          </p:cNvPr>
          <p:cNvPicPr/>
          <p:nvPr/>
        </p:nvPicPr>
        <p:blipFill rotWithShape="1">
          <a:blip r:embed="rId2"/>
          <a:srcRect l="55" t="45873" r="82295" b="32392"/>
          <a:stretch/>
        </p:blipFill>
        <p:spPr bwMode="auto">
          <a:xfrm>
            <a:off x="2560667" y="1536705"/>
            <a:ext cx="7460026" cy="49291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5400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362CF-06E5-4DBC-8218-31042F540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Include</a:t>
            </a:r>
            <a:endParaRPr lang="ru-RU" b="1" dirty="0"/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ru-RU" dirty="0"/>
              <a:t>Позволяет использовать поля связанных таблиц.</a:t>
            </a:r>
          </a:p>
          <a:p>
            <a:pPr marL="0" indent="0">
              <a:buNone/>
            </a:pPr>
            <a:endParaRPr lang="ru-RU" sz="4000" b="1" dirty="0"/>
          </a:p>
          <a:p>
            <a:pPr marL="0" indent="0">
              <a:buNone/>
            </a:pPr>
            <a:r>
              <a:rPr lang="en-US" dirty="0"/>
              <a:t>var </a:t>
            </a:r>
            <a:r>
              <a:rPr lang="en-US" dirty="0" err="1"/>
              <a:t>playlistsWithTracks</a:t>
            </a:r>
            <a:r>
              <a:rPr lang="en-US" dirty="0"/>
              <a:t> = </a:t>
            </a:r>
            <a:r>
              <a:rPr lang="en-US" dirty="0" err="1"/>
              <a:t>db.Playlists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.Include(p =&gt; </a:t>
            </a:r>
            <a:r>
              <a:rPr lang="en-US" dirty="0" err="1"/>
              <a:t>p.Tracks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ru-RU" dirty="0"/>
              <a:t>.</a:t>
            </a:r>
            <a:r>
              <a:rPr lang="ru-RU" dirty="0" err="1"/>
              <a:t>ToList</a:t>
            </a:r>
            <a:r>
              <a:rPr lang="ru-RU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53087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2074C-615E-4D53-BD4E-F453979E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для работы с БД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CDA05BD-8BBF-4166-A59E-10A107D92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6E088C-D7D7-42EE-A8FD-D4834157D1E2}"/>
              </a:ext>
            </a:extLst>
          </p:cNvPr>
          <p:cNvPicPr/>
          <p:nvPr/>
        </p:nvPicPr>
        <p:blipFill rotWithShape="1">
          <a:blip r:embed="rId2"/>
          <a:srcRect l="-55" t="65410" r="81967" b="12120"/>
          <a:stretch/>
        </p:blipFill>
        <p:spPr bwMode="auto">
          <a:xfrm>
            <a:off x="2362985" y="1690688"/>
            <a:ext cx="7466029" cy="4976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021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12643-71B3-4741-8775-25A1F909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12FA75-78D7-4332-90D1-253618CBB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Аббревиатура CRUD расшифровывается как </a:t>
            </a:r>
            <a:r>
              <a:rPr lang="ru-RU" dirty="0" err="1"/>
              <a:t>Create</a:t>
            </a:r>
            <a:r>
              <a:rPr lang="ru-RU" dirty="0"/>
              <a:t>, </a:t>
            </a:r>
            <a:r>
              <a:rPr lang="ru-RU" dirty="0" err="1"/>
              <a:t>Read</a:t>
            </a:r>
            <a:r>
              <a:rPr lang="ru-RU" dirty="0"/>
              <a:t>, </a:t>
            </a:r>
            <a:r>
              <a:rPr lang="ru-RU" dirty="0" err="1"/>
              <a:t>Update</a:t>
            </a:r>
            <a:r>
              <a:rPr lang="ru-RU" dirty="0"/>
              <a:t>, </a:t>
            </a:r>
            <a:r>
              <a:rPr lang="ru-RU" dirty="0" err="1"/>
              <a:t>Delete</a:t>
            </a:r>
            <a:r>
              <a:rPr lang="ru-RU" dirty="0"/>
              <a:t> — создание, чтение, обновление и удаление.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Это четыре основные операции, которые выполняет любое приложение, работающее с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04498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710C-25A5-4FF9-B9F0-8B7FFC3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13CE-FD63-4473-9AE2-13AA36E7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dirty="0"/>
              <a:t>Это получение данных из базы через запросы, фильтрацию и сортировку. Всё строится вокруг </a:t>
            </a:r>
            <a:r>
              <a:rPr lang="ru-RU" sz="3600" dirty="0" err="1"/>
              <a:t>DbSet</a:t>
            </a:r>
            <a:r>
              <a:rPr lang="ru-RU" sz="3600" dirty="0"/>
              <a:t> и LINQ.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019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710C-25A5-4FF9-B9F0-8B7FFC3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13CE-FD63-4473-9AE2-13AA36E7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dirty="0"/>
              <a:t>Чтобы добавить новую запись в базу данных, нужно создать объект соответствующего класса, добавить его в </a:t>
            </a:r>
            <a:r>
              <a:rPr lang="ru-RU" sz="3600" dirty="0" err="1"/>
              <a:t>DbSet</a:t>
            </a:r>
            <a:r>
              <a:rPr lang="ru-RU" sz="3600" dirty="0"/>
              <a:t> и вызвать </a:t>
            </a:r>
            <a:r>
              <a:rPr lang="ru-RU" sz="3600" dirty="0" err="1"/>
              <a:t>SaveChanges</a:t>
            </a:r>
            <a:r>
              <a:rPr lang="ru-RU" sz="3600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98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710C-25A5-4FF9-B9F0-8B7FFC3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13CE-FD63-4473-9AE2-13AA36E7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using (var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AppDbContext</a:t>
            </a:r>
            <a:r>
              <a:rPr lang="en-US" dirty="0"/>
              <a:t>())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var </a:t>
            </a:r>
            <a:r>
              <a:rPr lang="en-US" dirty="0" err="1"/>
              <a:t>newProduct</a:t>
            </a:r>
            <a:r>
              <a:rPr lang="en-US" dirty="0"/>
              <a:t> = new Product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Name = "</a:t>
            </a:r>
            <a:r>
              <a:rPr lang="ru-RU" dirty="0"/>
              <a:t>Новый товар</a:t>
            </a:r>
            <a:r>
              <a:rPr lang="en-US" dirty="0"/>
              <a:t>",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Price = 1500,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CategoryId</a:t>
            </a:r>
            <a:r>
              <a:rPr lang="en-US" dirty="0"/>
              <a:t> = 3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ru-RU" dirty="0"/>
              <a:t>};</a:t>
            </a:r>
          </a:p>
          <a:p>
            <a:pPr marL="0" indent="0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db.Products.Add</a:t>
            </a:r>
            <a:r>
              <a:rPr lang="en-US" dirty="0"/>
              <a:t>(</a:t>
            </a:r>
            <a:r>
              <a:rPr lang="en-US" dirty="0" err="1"/>
              <a:t>newProduct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db.SaveChanges</a:t>
            </a:r>
            <a:r>
              <a:rPr lang="en-US" dirty="0"/>
              <a:t>();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877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710C-25A5-4FF9-B9F0-8B7FFC3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Update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13CE-FD63-4473-9AE2-13AA36E7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dirty="0"/>
              <a:t>Для обновления нужно сначала получить объект из базы, изменить его свойства и снова вызвать </a:t>
            </a:r>
            <a:r>
              <a:rPr lang="ru-RU" sz="3600" dirty="0" err="1"/>
              <a:t>SaveChanges</a:t>
            </a:r>
            <a:r>
              <a:rPr lang="ru-RU" sz="3600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805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710C-25A5-4FF9-B9F0-8B7FFC3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Update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13CE-FD63-4473-9AE2-13AA36E7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using (var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AppDbContext</a:t>
            </a:r>
            <a:r>
              <a:rPr lang="en-US" dirty="0"/>
              <a:t>())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var product = </a:t>
            </a:r>
            <a:r>
              <a:rPr lang="en-US" dirty="0" err="1"/>
              <a:t>db.Products.Find</a:t>
            </a:r>
            <a:r>
              <a:rPr lang="en-US" dirty="0"/>
              <a:t>(5);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product.Name</a:t>
            </a:r>
            <a:r>
              <a:rPr lang="ru-RU" dirty="0"/>
              <a:t> = "Новое название";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product.Price</a:t>
            </a:r>
            <a:r>
              <a:rPr lang="ru-RU" dirty="0"/>
              <a:t> = 2000;</a:t>
            </a:r>
          </a:p>
          <a:p>
            <a:pPr marL="0" indent="0">
              <a:buNone/>
            </a:pPr>
            <a:r>
              <a:rPr lang="ru-RU" dirty="0"/>
              <a:t>    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db.SaveChanges</a:t>
            </a:r>
            <a:r>
              <a:rPr lang="ru-RU" dirty="0"/>
              <a:t>();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119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710C-25A5-4FF9-B9F0-8B7FFC3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Delete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13CE-FD63-4473-9AE2-13AA36E7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dirty="0"/>
              <a:t>Для удаления объект нужно передать в метод </a:t>
            </a:r>
            <a:r>
              <a:rPr lang="ru-RU" sz="3600" dirty="0" err="1"/>
              <a:t>Remove</a:t>
            </a:r>
            <a:r>
              <a:rPr lang="en-US" sz="3600" dirty="0"/>
              <a:t> </a:t>
            </a:r>
            <a:r>
              <a:rPr lang="ru-RU" sz="3600" dirty="0"/>
              <a:t>и снова вызвать </a:t>
            </a:r>
            <a:r>
              <a:rPr lang="ru-RU" sz="3600" dirty="0" err="1"/>
              <a:t>SaveChanges</a:t>
            </a:r>
            <a:r>
              <a:rPr lang="ru-RU" sz="3600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82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710C-25A5-4FF9-B9F0-8B7FFC3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Delete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13CE-FD63-4473-9AE2-13AA36E7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(var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AppDbContext</a:t>
            </a:r>
            <a:r>
              <a:rPr lang="en-US" dirty="0"/>
              <a:t>())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en-US" dirty="0"/>
              <a:t>        var product = </a:t>
            </a:r>
            <a:r>
              <a:rPr lang="en-US" dirty="0" err="1"/>
              <a:t>db.Products.Find</a:t>
            </a:r>
            <a:r>
              <a:rPr lang="en-US" dirty="0"/>
              <a:t>(5);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db.Products.Remove</a:t>
            </a:r>
            <a:r>
              <a:rPr lang="en-US" dirty="0"/>
              <a:t>(product);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db.SaveChanges</a:t>
            </a:r>
            <a:r>
              <a:rPr lang="ru-RU" dirty="0"/>
              <a:t>();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42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6B481-1B05-46CD-A469-88AFAECF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C9567-6297-4F17-8F22-2B996088D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800" dirty="0"/>
              <a:t>ПОСЛЕ КАЖДОЙ ОПЕРАЦИИ ОБЯЗАТЕЛЬНО ПРОПИСЫВАТЬ</a:t>
            </a:r>
            <a:endParaRPr lang="en-US" sz="4800" dirty="0"/>
          </a:p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ru-RU" sz="4800" dirty="0"/>
              <a:t> </a:t>
            </a:r>
            <a:r>
              <a:rPr lang="en-US" sz="4800" b="1" dirty="0"/>
              <a:t>SAVECHANGES()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49913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44109-44AA-4BC5-BDB5-208B87AB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 WPF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6A9687-8061-4D30-8DE9-F14107B0F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WPF работает с коллекциями, которые умеют уведомлять интерфейс об изменениях, а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даёт данные в виде обычных списков.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22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56F7E-22AC-4A6B-AD8E-C4E127CD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Коллекции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9CF47-CC6F-4DB5-8CF2-9E33C04C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000" dirty="0"/>
              <a:t>Коллекции представляют собой наборы однотипных объектов. В отличие от массивов, они позволяют хранить неограниченное количество элементов.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277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56F7E-22AC-4A6B-AD8E-C4E127CD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Коллекции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9CF47-CC6F-4DB5-8CF2-9E33C04C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ru-RU" dirty="0" err="1"/>
              <a:t>List</a:t>
            </a:r>
            <a:r>
              <a:rPr lang="ru-RU" dirty="0"/>
              <a:t>&lt;T&gt; — универсальный динамический список, основной рабочий инструмент.</a:t>
            </a:r>
          </a:p>
          <a:p>
            <a:pPr lvl="0"/>
            <a:r>
              <a:rPr lang="ru-RU" dirty="0" err="1"/>
              <a:t>Dictionary</a:t>
            </a:r>
            <a:r>
              <a:rPr lang="ru-RU" dirty="0"/>
              <a:t>&lt;</a:t>
            </a:r>
            <a:r>
              <a:rPr lang="ru-RU" dirty="0" err="1"/>
              <a:t>TKey</a:t>
            </a:r>
            <a:r>
              <a:rPr lang="ru-RU" dirty="0"/>
              <a:t>, </a:t>
            </a:r>
            <a:r>
              <a:rPr lang="ru-RU" dirty="0" err="1"/>
              <a:t>TValue</a:t>
            </a:r>
            <a:r>
              <a:rPr lang="ru-RU" dirty="0"/>
              <a:t>&gt; — коллекция ключей и значений, обеспечивающая быстрый поиск по ключу.</a:t>
            </a:r>
          </a:p>
          <a:p>
            <a:pPr lvl="0"/>
            <a:r>
              <a:rPr lang="ru-RU" dirty="0" err="1"/>
              <a:t>Queue</a:t>
            </a:r>
            <a:r>
              <a:rPr lang="ru-RU" dirty="0"/>
              <a:t>&lt;T&gt; — очередь, работающая по принципу "первый вошел — первый вышел" (FIFO).</a:t>
            </a:r>
          </a:p>
          <a:p>
            <a:pPr lvl="0"/>
            <a:r>
              <a:rPr lang="ru-RU" dirty="0" err="1"/>
              <a:t>Stack</a:t>
            </a:r>
            <a:r>
              <a:rPr lang="ru-RU" dirty="0"/>
              <a:t>&lt;T&gt; — стек, работающий по принципу "последний вошел — первый вышел" (LIFO).</a:t>
            </a:r>
          </a:p>
          <a:p>
            <a:pPr lvl="0"/>
            <a:r>
              <a:rPr lang="ru-RU" dirty="0" err="1"/>
              <a:t>ObservableCollection</a:t>
            </a:r>
            <a:r>
              <a:rPr lang="ru-RU" dirty="0"/>
              <a:t>&lt;T&gt; — коллекция с поддержкой уведомлений об изменениях, критически важная для привязки данных в интерфейсе.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808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56F7E-22AC-4A6B-AD8E-C4E127CD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Списки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9CF47-CC6F-4DB5-8CF2-9E33C04C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dirty="0" err="1"/>
              <a:t>List</a:t>
            </a:r>
            <a:r>
              <a:rPr lang="ru-RU" dirty="0"/>
              <a:t>&lt;T&gt; — это динамический массив, предназначенный для хранения элементов определенного типа T. Мы можем добавлять, удалять, вставлять элементы и обращаться по индексу. </a:t>
            </a:r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List</a:t>
            </a:r>
            <a:r>
              <a:rPr lang="ru-RU" dirty="0"/>
              <a:t>&lt;</a:t>
            </a:r>
            <a:r>
              <a:rPr lang="ru-RU" dirty="0" err="1"/>
              <a:t>тип_данных</a:t>
            </a:r>
            <a:r>
              <a:rPr lang="ru-RU" dirty="0"/>
              <a:t>&gt; название списка = </a:t>
            </a:r>
            <a:r>
              <a:rPr lang="en-US" dirty="0"/>
              <a:t>new List</a:t>
            </a:r>
            <a:r>
              <a:rPr lang="ru-RU" dirty="0"/>
              <a:t>&lt;</a:t>
            </a:r>
            <a:r>
              <a:rPr lang="ru-RU" dirty="0" err="1"/>
              <a:t>тип_данных</a:t>
            </a:r>
            <a:r>
              <a:rPr lang="ru-RU" dirty="0"/>
              <a:t>&gt;();</a:t>
            </a:r>
          </a:p>
          <a:p>
            <a:pPr marL="0" lv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747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56F7E-22AC-4A6B-AD8E-C4E127CD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OBSERVABLE</a:t>
            </a:r>
            <a:r>
              <a:rPr lang="ru-RU" b="1" dirty="0"/>
              <a:t> </a:t>
            </a:r>
            <a:r>
              <a:rPr lang="en-US" b="1" dirty="0"/>
              <a:t>COLLECTION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9CF47-CC6F-4DB5-8CF2-9E33C04C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ObservableCollection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 — это коллекция, которая автоматически уведомляет о изменениях (добавление, удаление, перемещение элементов или обновление всего списка).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 err="1"/>
              <a:t>ObservableCollection</a:t>
            </a:r>
            <a:r>
              <a:rPr lang="en-US" dirty="0"/>
              <a:t>&lt;</a:t>
            </a:r>
            <a:r>
              <a:rPr lang="ru-RU" dirty="0"/>
              <a:t>тип</a:t>
            </a:r>
            <a:r>
              <a:rPr lang="en-US" dirty="0"/>
              <a:t>_</a:t>
            </a:r>
            <a:r>
              <a:rPr lang="ru-RU" dirty="0"/>
              <a:t>данных</a:t>
            </a:r>
            <a:r>
              <a:rPr lang="en-US" dirty="0"/>
              <a:t>&gt; </a:t>
            </a:r>
            <a:r>
              <a:rPr lang="ru-RU" dirty="0"/>
              <a:t>название</a:t>
            </a:r>
            <a:r>
              <a:rPr lang="en-US" dirty="0"/>
              <a:t> = new </a:t>
            </a:r>
            <a:r>
              <a:rPr lang="en-US" dirty="0" err="1"/>
              <a:t>ObservableCollection</a:t>
            </a:r>
            <a:r>
              <a:rPr lang="en-US" dirty="0"/>
              <a:t>&lt;</a:t>
            </a:r>
            <a:r>
              <a:rPr lang="ru-RU" dirty="0"/>
              <a:t>тип</a:t>
            </a:r>
            <a:r>
              <a:rPr lang="en-US" dirty="0"/>
              <a:t>_</a:t>
            </a:r>
            <a:r>
              <a:rPr lang="ru-RU" dirty="0"/>
              <a:t>данных</a:t>
            </a:r>
            <a:r>
              <a:rPr lang="en-US" dirty="0"/>
              <a:t>&gt;();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219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ABA37-59E7-4C5B-B11C-78509DB2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 Коллекциями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25020-E779-46ED-B959-477CC01E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 err="1"/>
              <a:t>Add</a:t>
            </a:r>
            <a:r>
              <a:rPr lang="ru-RU" b="1" dirty="0"/>
              <a:t>(</a:t>
            </a:r>
            <a:r>
              <a:rPr lang="ru-RU" b="1" dirty="0" err="1"/>
              <a:t>item</a:t>
            </a:r>
            <a:r>
              <a:rPr lang="ru-RU" b="1" dirty="0"/>
              <a:t>) </a:t>
            </a:r>
            <a:r>
              <a:rPr lang="ru-RU" dirty="0"/>
              <a:t>— добавить элемент в конец</a:t>
            </a:r>
          </a:p>
          <a:p>
            <a:pPr marL="0" indent="0">
              <a:buNone/>
            </a:pPr>
            <a:r>
              <a:rPr lang="ru-RU" dirty="0" err="1"/>
              <a:t>products.Add</a:t>
            </a:r>
            <a:r>
              <a:rPr lang="ru-RU" dirty="0"/>
              <a:t>(</a:t>
            </a:r>
            <a:r>
              <a:rPr lang="ru-RU" dirty="0" err="1"/>
              <a:t>product</a:t>
            </a:r>
            <a:r>
              <a:rPr lang="ru-RU" dirty="0"/>
              <a:t>);</a:t>
            </a:r>
          </a:p>
          <a:p>
            <a:endParaRPr lang="ru-RU" dirty="0"/>
          </a:p>
          <a:p>
            <a:pPr lvl="0"/>
            <a:r>
              <a:rPr lang="ru-RU" b="1" dirty="0" err="1"/>
              <a:t>Insert</a:t>
            </a:r>
            <a:r>
              <a:rPr lang="ru-RU" b="1" dirty="0"/>
              <a:t>(</a:t>
            </a:r>
            <a:r>
              <a:rPr lang="ru-RU" b="1" dirty="0" err="1"/>
              <a:t>index</a:t>
            </a:r>
            <a:r>
              <a:rPr lang="ru-RU" b="1" dirty="0"/>
              <a:t>, </a:t>
            </a:r>
            <a:r>
              <a:rPr lang="ru-RU" b="1" dirty="0" err="1"/>
              <a:t>item</a:t>
            </a:r>
            <a:r>
              <a:rPr lang="ru-RU" b="1" dirty="0"/>
              <a:t>) </a:t>
            </a:r>
            <a:r>
              <a:rPr lang="ru-RU" dirty="0"/>
              <a:t>— вставить элемент по индексу</a:t>
            </a:r>
          </a:p>
          <a:p>
            <a:pPr marL="0" indent="0">
              <a:buNone/>
            </a:pPr>
            <a:r>
              <a:rPr lang="en-US" dirty="0" err="1"/>
              <a:t>Products.Insert</a:t>
            </a:r>
            <a:r>
              <a:rPr lang="en-US" dirty="0"/>
              <a:t>(4, </a:t>
            </a:r>
            <a:r>
              <a:rPr lang="ru-RU" dirty="0"/>
              <a:t>«Ботинки»</a:t>
            </a:r>
            <a:r>
              <a:rPr lang="en-US" dirty="0"/>
              <a:t>)</a:t>
            </a:r>
            <a:endParaRPr lang="ru-RU" dirty="0"/>
          </a:p>
          <a:p>
            <a:endParaRPr lang="ru-RU" dirty="0"/>
          </a:p>
          <a:p>
            <a:pPr lvl="0"/>
            <a:r>
              <a:rPr lang="ru-RU" b="1" dirty="0" err="1"/>
              <a:t>Remove</a:t>
            </a:r>
            <a:r>
              <a:rPr lang="ru-RU" b="1" dirty="0"/>
              <a:t>(</a:t>
            </a:r>
            <a:r>
              <a:rPr lang="ru-RU" b="1" dirty="0" err="1"/>
              <a:t>item</a:t>
            </a:r>
            <a:r>
              <a:rPr lang="ru-RU" b="1" dirty="0"/>
              <a:t>) </a:t>
            </a:r>
            <a:r>
              <a:rPr lang="ru-RU" dirty="0"/>
              <a:t>— удалить элемент</a:t>
            </a:r>
          </a:p>
          <a:p>
            <a:pPr marL="0" indent="0">
              <a:buNone/>
            </a:pPr>
            <a:r>
              <a:rPr lang="ru-RU" dirty="0" err="1"/>
              <a:t>products.Remove</a:t>
            </a:r>
            <a:r>
              <a:rPr lang="ru-RU" dirty="0"/>
              <a:t>(</a:t>
            </a:r>
            <a:r>
              <a:rPr lang="ru-RU" dirty="0" err="1"/>
              <a:t>product</a:t>
            </a:r>
            <a:r>
              <a:rPr lang="ru-RU" dirty="0"/>
              <a:t>);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556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ABA37-59E7-4C5B-B11C-78509DB2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 Коллекциями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25020-E779-46ED-B959-477CC01E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err="1"/>
              <a:t>Clear</a:t>
            </a:r>
            <a:r>
              <a:rPr lang="ru-RU" dirty="0"/>
              <a:t>() — очистить весь список</a:t>
            </a:r>
          </a:p>
          <a:p>
            <a:pPr marL="0" indent="0">
              <a:buNone/>
            </a:pPr>
            <a:r>
              <a:rPr lang="ru-RU" dirty="0" err="1"/>
              <a:t>products.Clear</a:t>
            </a:r>
            <a:r>
              <a:rPr lang="ru-RU" dirty="0"/>
              <a:t>();</a:t>
            </a:r>
          </a:p>
          <a:p>
            <a:endParaRPr lang="ru-RU" dirty="0"/>
          </a:p>
          <a:p>
            <a:pPr lvl="0"/>
            <a:r>
              <a:rPr lang="ru-RU" dirty="0" err="1"/>
              <a:t>Count</a:t>
            </a:r>
            <a:r>
              <a:rPr lang="ru-RU" dirty="0"/>
              <a:t> — количество элементов</a:t>
            </a:r>
          </a:p>
          <a:p>
            <a:pPr marL="0" indent="0">
              <a:buNone/>
            </a:pPr>
            <a:r>
              <a:rPr lang="en-US" dirty="0" err="1"/>
              <a:t>Products.Count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836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вроде классно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1172</Words>
  <Application>Microsoft Office PowerPoint</Application>
  <PresentationFormat>Широкоэкранный</PresentationFormat>
  <Paragraphs>208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8" baseType="lpstr">
      <vt:lpstr>Arial</vt:lpstr>
      <vt:lpstr>Calibri</vt:lpstr>
      <vt:lpstr>Garamond</vt:lpstr>
      <vt:lpstr>Symbol</vt:lpstr>
      <vt:lpstr>Times New Roman</vt:lpstr>
      <vt:lpstr>Тема Office</vt:lpstr>
      <vt:lpstr>Entity Framework</vt:lpstr>
      <vt:lpstr>Понятие EF</vt:lpstr>
      <vt:lpstr>Понятие EF</vt:lpstr>
      <vt:lpstr>Понятие EF</vt:lpstr>
      <vt:lpstr>Компоненты EF</vt:lpstr>
      <vt:lpstr>Компоненты EF</vt:lpstr>
      <vt:lpstr>Компоненты EF</vt:lpstr>
      <vt:lpstr>Компоненты EF</vt:lpstr>
      <vt:lpstr>Компоненты EF</vt:lpstr>
      <vt:lpstr>Компоненты EF</vt:lpstr>
      <vt:lpstr>Подходы EF</vt:lpstr>
      <vt:lpstr>Code First</vt:lpstr>
      <vt:lpstr>Code First</vt:lpstr>
      <vt:lpstr>Code First</vt:lpstr>
      <vt:lpstr>Code First</vt:lpstr>
      <vt:lpstr>Code First</vt:lpstr>
      <vt:lpstr>Code First</vt:lpstr>
      <vt:lpstr>Code First</vt:lpstr>
      <vt:lpstr>Code First</vt:lpstr>
      <vt:lpstr>DataBase First</vt:lpstr>
      <vt:lpstr>DataBase First</vt:lpstr>
      <vt:lpstr>DataBase First</vt:lpstr>
      <vt:lpstr>DataBase First</vt:lpstr>
      <vt:lpstr>DataBase First</vt:lpstr>
      <vt:lpstr>DataBase First</vt:lpstr>
      <vt:lpstr>Команды для работы с БД</vt:lpstr>
      <vt:lpstr>LINQ</vt:lpstr>
      <vt:lpstr>LINQ</vt:lpstr>
      <vt:lpstr>Команды для работы с БД</vt:lpstr>
      <vt:lpstr>Команды для работы с БД</vt:lpstr>
      <vt:lpstr>Команды для работы с БД</vt:lpstr>
      <vt:lpstr>Команды для работы с БД</vt:lpstr>
      <vt:lpstr>Команды для работы с БД</vt:lpstr>
      <vt:lpstr>Команды для работы с БД</vt:lpstr>
      <vt:lpstr>Команды для работы с БД</vt:lpstr>
      <vt:lpstr>Команды для работы с БД</vt:lpstr>
      <vt:lpstr>CRUD</vt:lpstr>
      <vt:lpstr>Read</vt:lpstr>
      <vt:lpstr>Create</vt:lpstr>
      <vt:lpstr>Create</vt:lpstr>
      <vt:lpstr>Update</vt:lpstr>
      <vt:lpstr>Update</vt:lpstr>
      <vt:lpstr>Delete</vt:lpstr>
      <vt:lpstr>Delete</vt:lpstr>
      <vt:lpstr>Презентация PowerPoint</vt:lpstr>
      <vt:lpstr>EF WPF</vt:lpstr>
      <vt:lpstr>Коллекции</vt:lpstr>
      <vt:lpstr>Коллекции</vt:lpstr>
      <vt:lpstr>Списки</vt:lpstr>
      <vt:lpstr>OBSERVABLE COLLECTION</vt:lpstr>
      <vt:lpstr>Операции с Коллекциями</vt:lpstr>
      <vt:lpstr>Операции с Коллекциями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светлый, шаблон презентации с сайта presentation-creation.ru</dc:title>
  <dc:creator>User Obstinate</dc:creator>
  <cp:lastModifiedBy>жяба</cp:lastModifiedBy>
  <cp:revision>44</cp:revision>
  <dcterms:created xsi:type="dcterms:W3CDTF">2024-11-04T08:17:15Z</dcterms:created>
  <dcterms:modified xsi:type="dcterms:W3CDTF">2026-02-16T23:06:53Z</dcterms:modified>
</cp:coreProperties>
</file>